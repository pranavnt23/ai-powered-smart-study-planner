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286" r:id="rId32"/>
    <p:sldId id="291" r:id="rId33"/>
    <p:sldId id="287" r:id="rId34"/>
    <p:sldId id="288" r:id="rId35"/>
    <p:sldId id="289" r:id="rId36"/>
    <p:sldId id="290"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74" d="100"/>
          <a:sy n="74" d="100"/>
        </p:scale>
        <p:origin x="3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D486055-0A0E-401F-A6C1-E8D3F304577F}"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4051255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486055-0A0E-401F-A6C1-E8D3F304577F}"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4294451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D486055-0A0E-401F-A6C1-E8D3F304577F}"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288567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D486055-0A0E-401F-A6C1-E8D3F304577F}"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335881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D486055-0A0E-401F-A6C1-E8D3F304577F}"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313090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D486055-0A0E-401F-A6C1-E8D3F304577F}"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2750389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486055-0A0E-401F-A6C1-E8D3F304577F}"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1831711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486055-0A0E-401F-A6C1-E8D3F304577F}"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3225180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486055-0A0E-401F-A6C1-E8D3F304577F}"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16237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486055-0A0E-401F-A6C1-E8D3F304577F}"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2210474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486055-0A0E-401F-A6C1-E8D3F304577F}"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83FD20-BFF3-438E-98BD-B86095F49B50}" type="slidenum">
              <a:rPr lang="en-IN" smtClean="0"/>
              <a:t>‹#›</a:t>
            </a:fld>
            <a:endParaRPr lang="en-IN"/>
          </a:p>
        </p:txBody>
      </p:sp>
    </p:spTree>
    <p:extLst>
      <p:ext uri="{BB962C8B-B14F-4D97-AF65-F5344CB8AC3E}">
        <p14:creationId xmlns:p14="http://schemas.microsoft.com/office/powerpoint/2010/main" val="2135605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486055-0A0E-401F-A6C1-E8D3F304577F}" type="datetimeFigureOut">
              <a:rPr lang="en-IN" smtClean="0"/>
              <a:t>28-05-2026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83FD20-BFF3-438E-98BD-B86095F49B50}" type="slidenum">
              <a:rPr lang="en-IN" smtClean="0"/>
              <a:t>‹#›</a:t>
            </a:fld>
            <a:endParaRPr lang="en-IN"/>
          </a:p>
        </p:txBody>
      </p:sp>
    </p:spTree>
    <p:extLst>
      <p:ext uri="{BB962C8B-B14F-4D97-AF65-F5344CB8AC3E}">
        <p14:creationId xmlns:p14="http://schemas.microsoft.com/office/powerpoint/2010/main" val="520668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1511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0158" y="631066"/>
            <a:ext cx="8203842" cy="2585323"/>
          </a:xfrm>
          <a:prstGeom prst="rect">
            <a:avLst/>
          </a:prstGeom>
        </p:spPr>
        <p:txBody>
          <a:bodyPr wrap="square">
            <a:spAutoFit/>
          </a:bodyPr>
          <a:lstStyle/>
          <a:p>
            <a:r>
              <a:rPr lang="en-US" b="0" i="0" dirty="0" err="1" smtClean="0">
                <a:solidFill>
                  <a:srgbClr val="484848"/>
                </a:solidFill>
                <a:effectLst/>
                <a:latin typeface="Roboto"/>
              </a:rPr>
              <a:t>Meena</a:t>
            </a:r>
            <a:r>
              <a:rPr lang="en-US" b="0" i="0" dirty="0" smtClean="0">
                <a:solidFill>
                  <a:srgbClr val="484848"/>
                </a:solidFill>
                <a:effectLst/>
                <a:latin typeface="Roboto"/>
              </a:rPr>
              <a:t> is 24 years old today. Eight years ago, </a:t>
            </a:r>
            <a:r>
              <a:rPr lang="en-US" b="0" i="0" dirty="0" err="1" smtClean="0">
                <a:solidFill>
                  <a:srgbClr val="484848"/>
                </a:solidFill>
                <a:effectLst/>
                <a:latin typeface="Roboto"/>
              </a:rPr>
              <a:t>Anju</a:t>
            </a:r>
            <a:r>
              <a:rPr lang="en-US" b="0" i="0" dirty="0" smtClean="0">
                <a:solidFill>
                  <a:srgbClr val="484848"/>
                </a:solidFill>
                <a:effectLst/>
                <a:latin typeface="Roboto"/>
              </a:rPr>
              <a:t> was half the age of </a:t>
            </a:r>
            <a:r>
              <a:rPr lang="en-US" b="0" i="0" dirty="0" err="1" smtClean="0">
                <a:solidFill>
                  <a:srgbClr val="484848"/>
                </a:solidFill>
                <a:effectLst/>
                <a:latin typeface="Roboto"/>
              </a:rPr>
              <a:t>Meena</a:t>
            </a:r>
            <a:r>
              <a:rPr lang="en-US" b="0" i="0" dirty="0" smtClean="0">
                <a:solidFill>
                  <a:srgbClr val="484848"/>
                </a:solidFill>
                <a:effectLst/>
                <a:latin typeface="Roboto"/>
              </a:rPr>
              <a:t>. How old is </a:t>
            </a:r>
            <a:r>
              <a:rPr lang="en-US" b="0" i="0" dirty="0" err="1" smtClean="0">
                <a:solidFill>
                  <a:srgbClr val="484848"/>
                </a:solidFill>
                <a:effectLst/>
                <a:latin typeface="Roboto"/>
              </a:rPr>
              <a:t>Anju</a:t>
            </a:r>
            <a:r>
              <a:rPr lang="en-US" b="0" i="0" dirty="0" smtClean="0">
                <a:solidFill>
                  <a:srgbClr val="484848"/>
                </a:solidFill>
                <a:effectLst/>
                <a:latin typeface="Roboto"/>
              </a:rPr>
              <a:t> today?</a:t>
            </a:r>
          </a:p>
          <a:p>
            <a:endParaRPr lang="en-US" dirty="0" smtClean="0"/>
          </a:p>
          <a:p>
            <a:r>
              <a:rPr lang="en-US" dirty="0"/>
              <a:t>20 years</a:t>
            </a:r>
          </a:p>
          <a:p>
            <a:r>
              <a:rPr lang="en-US" dirty="0"/>
              <a:t>18 years</a:t>
            </a:r>
          </a:p>
          <a:p>
            <a:r>
              <a:rPr lang="en-US" dirty="0"/>
              <a:t>16 years</a:t>
            </a:r>
          </a:p>
          <a:p>
            <a:r>
              <a:rPr lang="en-US" dirty="0"/>
              <a:t>14 years</a:t>
            </a:r>
          </a:p>
          <a:p>
            <a:r>
              <a:rPr lang="en-US" dirty="0" smtClean="0"/>
              <a:t/>
            </a:r>
            <a:br>
              <a:rPr lang="en-US" dirty="0" smtClean="0"/>
            </a:br>
            <a:endParaRPr lang="en-IN" dirty="0"/>
          </a:p>
        </p:txBody>
      </p:sp>
    </p:spTree>
    <p:extLst>
      <p:ext uri="{BB962C8B-B14F-4D97-AF65-F5344CB8AC3E}">
        <p14:creationId xmlns:p14="http://schemas.microsoft.com/office/powerpoint/2010/main" val="2482458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3639" y="605307"/>
            <a:ext cx="8680361" cy="2031325"/>
          </a:xfrm>
          <a:prstGeom prst="rect">
            <a:avLst/>
          </a:prstGeom>
        </p:spPr>
        <p:txBody>
          <a:bodyPr wrap="square">
            <a:spAutoFit/>
          </a:bodyPr>
          <a:lstStyle/>
          <a:p>
            <a:r>
              <a:rPr lang="en-US" b="0" i="0" dirty="0" smtClean="0">
                <a:solidFill>
                  <a:srgbClr val="484848"/>
                </a:solidFill>
                <a:effectLst/>
                <a:latin typeface="Roboto"/>
              </a:rPr>
              <a:t>The ratio between the present ages of A and B is 3:5 respectively. If the difference between B's present age and A's age after 4 years is 2. What is the total of A's and B's present ages?</a:t>
            </a:r>
          </a:p>
          <a:p>
            <a:r>
              <a:rPr lang="en-US" b="0" i="0" dirty="0" smtClean="0">
                <a:solidFill>
                  <a:srgbClr val="484848"/>
                </a:solidFill>
                <a:effectLst/>
                <a:latin typeface="Roboto"/>
              </a:rPr>
              <a:t>24 years</a:t>
            </a:r>
          </a:p>
          <a:p>
            <a:r>
              <a:rPr lang="en-US" b="0" i="0" dirty="0" smtClean="0">
                <a:solidFill>
                  <a:srgbClr val="484848"/>
                </a:solidFill>
                <a:effectLst/>
                <a:latin typeface="Roboto"/>
              </a:rPr>
              <a:t>32 year</a:t>
            </a:r>
          </a:p>
          <a:p>
            <a:r>
              <a:rPr lang="en-US" b="0" i="0" dirty="0" smtClean="0">
                <a:solidFill>
                  <a:srgbClr val="484848"/>
                </a:solidFill>
                <a:effectLst/>
                <a:latin typeface="Roboto"/>
              </a:rPr>
              <a:t>48 years</a:t>
            </a:r>
          </a:p>
          <a:p>
            <a:r>
              <a:rPr lang="en-US" b="0" i="0" dirty="0" smtClean="0">
                <a:solidFill>
                  <a:srgbClr val="484848"/>
                </a:solidFill>
                <a:effectLst/>
                <a:latin typeface="Roboto"/>
              </a:rPr>
              <a:t>cannot be determined</a:t>
            </a:r>
            <a:endParaRPr lang="en-US" b="0" i="0" dirty="0">
              <a:solidFill>
                <a:srgbClr val="484848"/>
              </a:solidFill>
              <a:effectLst/>
              <a:latin typeface="Roboto"/>
            </a:endParaRPr>
          </a:p>
        </p:txBody>
      </p:sp>
    </p:spTree>
    <p:extLst>
      <p:ext uri="{BB962C8B-B14F-4D97-AF65-F5344CB8AC3E}">
        <p14:creationId xmlns:p14="http://schemas.microsoft.com/office/powerpoint/2010/main" val="207943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59" y="592428"/>
            <a:ext cx="8448541" cy="1754326"/>
          </a:xfrm>
          <a:prstGeom prst="rect">
            <a:avLst/>
          </a:prstGeom>
        </p:spPr>
        <p:txBody>
          <a:bodyPr wrap="square">
            <a:spAutoFit/>
          </a:bodyPr>
          <a:lstStyle/>
          <a:p>
            <a:r>
              <a:rPr lang="en-US" b="0" i="0" dirty="0" smtClean="0">
                <a:solidFill>
                  <a:srgbClr val="484848"/>
                </a:solidFill>
                <a:effectLst/>
                <a:latin typeface="Roboto"/>
              </a:rPr>
              <a:t>The present ages of the three persons are in proportions 4 : 7 : 9. Eight years ago, the sum of their ages was 76. Find their present ages (in years).</a:t>
            </a:r>
          </a:p>
          <a:p>
            <a:r>
              <a:rPr lang="en-US" b="0" i="0" dirty="0" smtClean="0">
                <a:solidFill>
                  <a:srgbClr val="484848"/>
                </a:solidFill>
                <a:effectLst/>
                <a:latin typeface="Roboto"/>
              </a:rPr>
              <a:t>8, 20, 28</a:t>
            </a:r>
          </a:p>
          <a:p>
            <a:r>
              <a:rPr lang="en-US" b="0" i="0" dirty="0" smtClean="0">
                <a:solidFill>
                  <a:srgbClr val="484848"/>
                </a:solidFill>
                <a:effectLst/>
                <a:latin typeface="Roboto"/>
              </a:rPr>
              <a:t>12, 21, 27</a:t>
            </a:r>
          </a:p>
          <a:p>
            <a:r>
              <a:rPr lang="en-US" b="0" i="0" dirty="0" smtClean="0">
                <a:solidFill>
                  <a:srgbClr val="484848"/>
                </a:solidFill>
                <a:effectLst/>
                <a:latin typeface="Roboto"/>
              </a:rPr>
              <a:t>20, 35, 45</a:t>
            </a:r>
          </a:p>
          <a:p>
            <a:r>
              <a:rPr lang="en-US" b="0" i="0" dirty="0" smtClean="0">
                <a:solidFill>
                  <a:srgbClr val="484848"/>
                </a:solidFill>
                <a:effectLst/>
                <a:latin typeface="Roboto"/>
              </a:rPr>
              <a:t>None of these</a:t>
            </a:r>
            <a:endParaRPr lang="en-US" b="0" i="0" dirty="0">
              <a:solidFill>
                <a:srgbClr val="484848"/>
              </a:solidFill>
              <a:effectLst/>
              <a:latin typeface="Roboto"/>
            </a:endParaRPr>
          </a:p>
        </p:txBody>
      </p:sp>
    </p:spTree>
    <p:extLst>
      <p:ext uri="{BB962C8B-B14F-4D97-AF65-F5344CB8AC3E}">
        <p14:creationId xmlns:p14="http://schemas.microsoft.com/office/powerpoint/2010/main" val="1978273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6823" y="643944"/>
            <a:ext cx="8487177" cy="1754326"/>
          </a:xfrm>
          <a:prstGeom prst="rect">
            <a:avLst/>
          </a:prstGeom>
        </p:spPr>
        <p:txBody>
          <a:bodyPr wrap="square">
            <a:spAutoFit/>
          </a:bodyPr>
          <a:lstStyle/>
          <a:p>
            <a:r>
              <a:rPr lang="en-US" b="0" i="0" dirty="0" smtClean="0">
                <a:solidFill>
                  <a:srgbClr val="484848"/>
                </a:solidFill>
                <a:effectLst/>
                <a:latin typeface="Roboto"/>
              </a:rPr>
              <a:t>The present ratio between A's and B's ages is 11:4. After 4 years, the ratio of their ages will be 12:5. What is the present age of A?</a:t>
            </a:r>
          </a:p>
          <a:p>
            <a:r>
              <a:rPr lang="en-US" b="0" i="0" dirty="0" smtClean="0">
                <a:solidFill>
                  <a:srgbClr val="484848"/>
                </a:solidFill>
                <a:effectLst/>
                <a:latin typeface="Roboto"/>
              </a:rPr>
              <a:t>40</a:t>
            </a:r>
          </a:p>
          <a:p>
            <a:r>
              <a:rPr lang="en-US" b="0" i="0" dirty="0" smtClean="0">
                <a:solidFill>
                  <a:srgbClr val="484848"/>
                </a:solidFill>
                <a:effectLst/>
                <a:latin typeface="Roboto"/>
              </a:rPr>
              <a:t>44</a:t>
            </a:r>
          </a:p>
          <a:p>
            <a:r>
              <a:rPr lang="en-US" b="0" i="0" dirty="0" smtClean="0">
                <a:solidFill>
                  <a:srgbClr val="484848"/>
                </a:solidFill>
                <a:effectLst/>
                <a:latin typeface="Roboto"/>
              </a:rPr>
              <a:t>88</a:t>
            </a:r>
          </a:p>
          <a:p>
            <a:r>
              <a:rPr lang="en-US" b="0" i="0" dirty="0" smtClean="0">
                <a:solidFill>
                  <a:srgbClr val="484848"/>
                </a:solidFill>
                <a:effectLst/>
                <a:latin typeface="Roboto"/>
              </a:rPr>
              <a:t>48</a:t>
            </a:r>
            <a:endParaRPr lang="en-US" b="0" i="0" dirty="0">
              <a:solidFill>
                <a:srgbClr val="484848"/>
              </a:solidFill>
              <a:effectLst/>
              <a:latin typeface="Roboto"/>
            </a:endParaRPr>
          </a:p>
        </p:txBody>
      </p:sp>
    </p:spTree>
    <p:extLst>
      <p:ext uri="{BB962C8B-B14F-4D97-AF65-F5344CB8AC3E}">
        <p14:creationId xmlns:p14="http://schemas.microsoft.com/office/powerpoint/2010/main" val="3689367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37127" y="515156"/>
            <a:ext cx="8306873" cy="2031325"/>
          </a:xfrm>
          <a:prstGeom prst="rect">
            <a:avLst/>
          </a:prstGeom>
        </p:spPr>
        <p:txBody>
          <a:bodyPr wrap="square">
            <a:spAutoFit/>
          </a:bodyPr>
          <a:lstStyle/>
          <a:p>
            <a:r>
              <a:rPr lang="en-IN" dirty="0" smtClean="0"/>
              <a:t>if x=7-4 root 3 then what is root x+ 1/root x</a:t>
            </a:r>
          </a:p>
          <a:p>
            <a:r>
              <a:rPr lang="en-IN" dirty="0" smtClean="0"/>
              <a:t>2</a:t>
            </a:r>
          </a:p>
          <a:p>
            <a:r>
              <a:rPr lang="en-IN" dirty="0" smtClean="0"/>
              <a:t>-2</a:t>
            </a:r>
          </a:p>
          <a:p>
            <a:r>
              <a:rPr lang="en-IN" dirty="0" smtClean="0"/>
              <a:t>-4</a:t>
            </a:r>
          </a:p>
          <a:p>
            <a:r>
              <a:rPr lang="en-IN" dirty="0" smtClean="0"/>
              <a:t>4</a:t>
            </a:r>
          </a:p>
          <a:p>
            <a:endParaRPr lang="en-IN" dirty="0" smtClean="0"/>
          </a:p>
          <a:p>
            <a:r>
              <a:rPr lang="en-IN" dirty="0" smtClean="0"/>
              <a:t>	</a:t>
            </a:r>
            <a:endParaRPr lang="en-IN" dirty="0"/>
          </a:p>
        </p:txBody>
      </p:sp>
    </p:spTree>
    <p:extLst>
      <p:ext uri="{BB962C8B-B14F-4D97-AF65-F5344CB8AC3E}">
        <p14:creationId xmlns:p14="http://schemas.microsoft.com/office/powerpoint/2010/main" val="3707496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577" y="347730"/>
            <a:ext cx="8886423" cy="1477328"/>
          </a:xfrm>
          <a:prstGeom prst="rect">
            <a:avLst/>
          </a:prstGeom>
        </p:spPr>
        <p:txBody>
          <a:bodyPr wrap="square">
            <a:spAutoFit/>
          </a:bodyPr>
          <a:lstStyle/>
          <a:p>
            <a:r>
              <a:rPr lang="en-US" b="0" i="0" dirty="0" smtClean="0">
                <a:solidFill>
                  <a:srgbClr val="484848"/>
                </a:solidFill>
                <a:effectLst/>
                <a:latin typeface="Roboto"/>
              </a:rPr>
              <a:t>The 100 toys cost </a:t>
            </a:r>
            <a:r>
              <a:rPr lang="en-US" b="0" i="0" dirty="0" err="1" smtClean="0">
                <a:solidFill>
                  <a:srgbClr val="484848"/>
                </a:solidFill>
                <a:effectLst/>
                <a:latin typeface="Roboto"/>
              </a:rPr>
              <a:t>Rs</a:t>
            </a:r>
            <a:r>
              <a:rPr lang="en-US" b="0" i="0" dirty="0" smtClean="0">
                <a:solidFill>
                  <a:srgbClr val="484848"/>
                </a:solidFill>
                <a:effectLst/>
                <a:latin typeface="Roboto"/>
              </a:rPr>
              <a:t>. 300. How much the 280 toys will cost?</a:t>
            </a:r>
          </a:p>
          <a:p>
            <a:r>
              <a:rPr lang="en-US" b="0" i="0" dirty="0" smtClean="0">
                <a:solidFill>
                  <a:srgbClr val="484848"/>
                </a:solidFill>
                <a:effectLst/>
                <a:latin typeface="Roboto"/>
              </a:rPr>
              <a:t>900</a:t>
            </a:r>
          </a:p>
          <a:p>
            <a:r>
              <a:rPr lang="en-US" b="0" i="0" dirty="0" smtClean="0">
                <a:solidFill>
                  <a:srgbClr val="484848"/>
                </a:solidFill>
                <a:effectLst/>
                <a:latin typeface="Roboto"/>
              </a:rPr>
              <a:t>1000</a:t>
            </a:r>
          </a:p>
          <a:p>
            <a:r>
              <a:rPr lang="en-US" b="0" i="0" dirty="0" smtClean="0">
                <a:solidFill>
                  <a:srgbClr val="484848"/>
                </a:solidFill>
                <a:effectLst/>
                <a:latin typeface="Roboto"/>
              </a:rPr>
              <a:t>840</a:t>
            </a:r>
          </a:p>
          <a:p>
            <a:r>
              <a:rPr lang="en-US" b="0" i="0" dirty="0" smtClean="0">
                <a:solidFill>
                  <a:srgbClr val="484848"/>
                </a:solidFill>
                <a:effectLst/>
                <a:latin typeface="Roboto"/>
              </a:rPr>
              <a:t>500</a:t>
            </a:r>
            <a:endParaRPr lang="en-US" b="0" i="0" dirty="0">
              <a:solidFill>
                <a:srgbClr val="484848"/>
              </a:solidFill>
              <a:effectLst/>
              <a:latin typeface="Roboto"/>
            </a:endParaRPr>
          </a:p>
        </p:txBody>
      </p:sp>
    </p:spTree>
    <p:extLst>
      <p:ext uri="{BB962C8B-B14F-4D97-AF65-F5344CB8AC3E}">
        <p14:creationId xmlns:p14="http://schemas.microsoft.com/office/powerpoint/2010/main" val="190227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5155" y="553792"/>
            <a:ext cx="8628845" cy="2031325"/>
          </a:xfrm>
          <a:prstGeom prst="rect">
            <a:avLst/>
          </a:prstGeom>
        </p:spPr>
        <p:txBody>
          <a:bodyPr wrap="square">
            <a:spAutoFit/>
          </a:bodyPr>
          <a:lstStyle/>
          <a:p>
            <a:r>
              <a:rPr lang="en-US" b="0" i="0" dirty="0" smtClean="0">
                <a:solidFill>
                  <a:srgbClr val="484848"/>
                </a:solidFill>
                <a:effectLst/>
                <a:latin typeface="Roboto"/>
              </a:rPr>
              <a:t>The denominator of a fraction is 1 less than twice the numerator. If the numerator and denominator are both increased by 1, the fraction becomes 3/5. Find the fraction.</a:t>
            </a:r>
          </a:p>
          <a:p>
            <a:r>
              <a:rPr lang="en-US" b="0" i="0" dirty="0" smtClean="0">
                <a:solidFill>
                  <a:srgbClr val="484848"/>
                </a:solidFill>
                <a:effectLst/>
                <a:latin typeface="Roboto"/>
              </a:rPr>
              <a:t>2/3</a:t>
            </a:r>
          </a:p>
          <a:p>
            <a:r>
              <a:rPr lang="en-US" b="0" i="0" dirty="0" smtClean="0">
                <a:solidFill>
                  <a:srgbClr val="484848"/>
                </a:solidFill>
                <a:effectLst/>
                <a:latin typeface="Roboto"/>
              </a:rPr>
              <a:t>5/9</a:t>
            </a:r>
          </a:p>
          <a:p>
            <a:r>
              <a:rPr lang="en-US" b="0" i="0" dirty="0" smtClean="0">
                <a:solidFill>
                  <a:srgbClr val="484848"/>
                </a:solidFill>
                <a:effectLst/>
                <a:latin typeface="Roboto"/>
              </a:rPr>
              <a:t>4/7</a:t>
            </a:r>
          </a:p>
          <a:p>
            <a:r>
              <a:rPr lang="en-US" b="0" i="0" dirty="0" smtClean="0">
                <a:solidFill>
                  <a:srgbClr val="484848"/>
                </a:solidFill>
                <a:effectLst/>
                <a:latin typeface="Roboto"/>
              </a:rPr>
              <a:t>3/5</a:t>
            </a:r>
            <a:endParaRPr lang="en-US" b="0" i="0" dirty="0">
              <a:solidFill>
                <a:srgbClr val="484848"/>
              </a:solidFill>
              <a:effectLst/>
              <a:latin typeface="Roboto"/>
            </a:endParaRPr>
          </a:p>
        </p:txBody>
      </p:sp>
    </p:spTree>
    <p:extLst>
      <p:ext uri="{BB962C8B-B14F-4D97-AF65-F5344CB8AC3E}">
        <p14:creationId xmlns:p14="http://schemas.microsoft.com/office/powerpoint/2010/main" val="58663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8946" y="515155"/>
            <a:ext cx="8075054" cy="2031325"/>
          </a:xfrm>
          <a:prstGeom prst="rect">
            <a:avLst/>
          </a:prstGeom>
        </p:spPr>
        <p:txBody>
          <a:bodyPr wrap="square">
            <a:spAutoFit/>
          </a:bodyPr>
          <a:lstStyle/>
          <a:p>
            <a:r>
              <a:rPr lang="en-US" b="0" i="0" dirty="0" smtClean="0">
                <a:solidFill>
                  <a:srgbClr val="484848"/>
                </a:solidFill>
                <a:effectLst/>
                <a:latin typeface="Roboto"/>
              </a:rPr>
              <a:t>The mean temperature from Monday to Wednesday was 37°C and from Tuesday to Thursday was 34°​C, if the temperature on Thursday was 4/5th that of Monday, then what was the temperature on Thursday?</a:t>
            </a:r>
          </a:p>
          <a:p>
            <a:r>
              <a:rPr lang="en-US" b="0" i="0" dirty="0" smtClean="0">
                <a:solidFill>
                  <a:srgbClr val="484848"/>
                </a:solidFill>
                <a:effectLst/>
                <a:latin typeface="Roboto"/>
              </a:rPr>
              <a:t>36</a:t>
            </a:r>
          </a:p>
          <a:p>
            <a:r>
              <a:rPr lang="en-US" b="0" i="0" dirty="0" smtClean="0">
                <a:solidFill>
                  <a:srgbClr val="484848"/>
                </a:solidFill>
                <a:effectLst/>
                <a:latin typeface="Roboto"/>
              </a:rPr>
              <a:t>36.5</a:t>
            </a:r>
          </a:p>
          <a:p>
            <a:r>
              <a:rPr lang="en-US" b="0" i="0" dirty="0" smtClean="0">
                <a:solidFill>
                  <a:srgbClr val="484848"/>
                </a:solidFill>
                <a:effectLst/>
                <a:latin typeface="Roboto"/>
              </a:rPr>
              <a:t>35.5</a:t>
            </a:r>
          </a:p>
          <a:p>
            <a:r>
              <a:rPr lang="en-US" b="0" i="0" dirty="0" smtClean="0">
                <a:solidFill>
                  <a:srgbClr val="484848"/>
                </a:solidFill>
                <a:effectLst/>
                <a:latin typeface="Roboto"/>
              </a:rPr>
              <a:t>34</a:t>
            </a:r>
            <a:endParaRPr lang="en-US" b="0" i="0" dirty="0">
              <a:solidFill>
                <a:srgbClr val="484848"/>
              </a:solidFill>
              <a:effectLst/>
              <a:latin typeface="Roboto"/>
            </a:endParaRPr>
          </a:p>
        </p:txBody>
      </p:sp>
    </p:spTree>
    <p:extLst>
      <p:ext uri="{BB962C8B-B14F-4D97-AF65-F5344CB8AC3E}">
        <p14:creationId xmlns:p14="http://schemas.microsoft.com/office/powerpoint/2010/main" val="2386046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642" y="515155"/>
            <a:ext cx="8255358" cy="2308324"/>
          </a:xfrm>
          <a:prstGeom prst="rect">
            <a:avLst/>
          </a:prstGeom>
        </p:spPr>
        <p:txBody>
          <a:bodyPr wrap="square">
            <a:spAutoFit/>
          </a:bodyPr>
          <a:lstStyle/>
          <a:p>
            <a:r>
              <a:rPr lang="en-US" b="0" i="0" dirty="0" smtClean="0">
                <a:solidFill>
                  <a:srgbClr val="484848"/>
                </a:solidFill>
                <a:effectLst/>
                <a:latin typeface="Roboto"/>
              </a:rPr>
              <a:t>Three science classes: X,Y and Z, take an organic chemistry test. The average score of class X is 83. The average score of class Y is 76. The average score of class Z is 85. The average score of class X and Y is 79 and average score of class Y and Z is 81. What is the average score of classes X,Y,Z ?</a:t>
            </a:r>
          </a:p>
          <a:p>
            <a:r>
              <a:rPr lang="en-US" b="0" i="0" dirty="0" smtClean="0">
                <a:solidFill>
                  <a:srgbClr val="484848"/>
                </a:solidFill>
                <a:effectLst/>
                <a:latin typeface="Roboto"/>
              </a:rPr>
              <a:t>81.5</a:t>
            </a:r>
          </a:p>
          <a:p>
            <a:r>
              <a:rPr lang="en-US" b="0" i="0" dirty="0" smtClean="0">
                <a:solidFill>
                  <a:srgbClr val="484848"/>
                </a:solidFill>
                <a:effectLst/>
                <a:latin typeface="Roboto"/>
              </a:rPr>
              <a:t>80.5</a:t>
            </a:r>
          </a:p>
          <a:p>
            <a:r>
              <a:rPr lang="en-US" b="0" i="0" dirty="0" smtClean="0">
                <a:solidFill>
                  <a:srgbClr val="484848"/>
                </a:solidFill>
                <a:effectLst/>
                <a:latin typeface="Roboto"/>
              </a:rPr>
              <a:t>83</a:t>
            </a:r>
          </a:p>
          <a:p>
            <a:r>
              <a:rPr lang="en-US" b="0" i="0" dirty="0" smtClean="0">
                <a:solidFill>
                  <a:srgbClr val="484848"/>
                </a:solidFill>
                <a:effectLst/>
                <a:latin typeface="Roboto"/>
              </a:rPr>
              <a:t>78</a:t>
            </a:r>
            <a:endParaRPr lang="en-US" b="0" i="0" dirty="0">
              <a:solidFill>
                <a:srgbClr val="484848"/>
              </a:solidFill>
              <a:effectLst/>
              <a:latin typeface="Roboto"/>
            </a:endParaRPr>
          </a:p>
        </p:txBody>
      </p:sp>
    </p:spTree>
    <p:extLst>
      <p:ext uri="{BB962C8B-B14F-4D97-AF65-F5344CB8AC3E}">
        <p14:creationId xmlns:p14="http://schemas.microsoft.com/office/powerpoint/2010/main" val="3531643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611" y="0"/>
            <a:ext cx="8358389" cy="1754326"/>
          </a:xfrm>
          <a:prstGeom prst="rect">
            <a:avLst/>
          </a:prstGeom>
        </p:spPr>
        <p:txBody>
          <a:bodyPr wrap="square">
            <a:spAutoFit/>
          </a:bodyPr>
          <a:lstStyle/>
          <a:p>
            <a:r>
              <a:rPr lang="en-US" b="0" i="0" dirty="0" smtClean="0">
                <a:solidFill>
                  <a:srgbClr val="484848"/>
                </a:solidFill>
                <a:effectLst/>
                <a:latin typeface="Roboto"/>
              </a:rPr>
              <a:t>A boat goes 6 km in an hour in still water but takes thrice as much time in going the same distance against the current. The speed of the current (in km/hour) is:</a:t>
            </a:r>
          </a:p>
          <a:p>
            <a:r>
              <a:rPr lang="en-US" b="0" i="0" dirty="0" smtClean="0">
                <a:solidFill>
                  <a:srgbClr val="484848"/>
                </a:solidFill>
                <a:effectLst/>
                <a:latin typeface="Roboto"/>
              </a:rPr>
              <a:t>5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3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4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6 km/</a:t>
            </a:r>
            <a:r>
              <a:rPr lang="en-US" b="0" i="0" dirty="0" err="1" smtClean="0">
                <a:solidFill>
                  <a:srgbClr val="484848"/>
                </a:solidFill>
                <a:effectLst/>
                <a:latin typeface="Roboto"/>
              </a:rPr>
              <a:t>hr</a:t>
            </a:r>
            <a:endParaRPr lang="en-US" b="0" i="0" dirty="0">
              <a:solidFill>
                <a:srgbClr val="484848"/>
              </a:solidFill>
              <a:effectLst/>
              <a:latin typeface="Roboto"/>
            </a:endParaRPr>
          </a:p>
        </p:txBody>
      </p:sp>
    </p:spTree>
    <p:extLst>
      <p:ext uri="{BB962C8B-B14F-4D97-AF65-F5344CB8AC3E}">
        <p14:creationId xmlns:p14="http://schemas.microsoft.com/office/powerpoint/2010/main" val="141656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515156"/>
            <a:ext cx="8345510" cy="1754326"/>
          </a:xfrm>
          <a:prstGeom prst="rect">
            <a:avLst/>
          </a:prstGeom>
        </p:spPr>
        <p:txBody>
          <a:bodyPr wrap="square">
            <a:spAutoFit/>
          </a:bodyPr>
          <a:lstStyle/>
          <a:p>
            <a:r>
              <a:rPr lang="en-US" b="0" i="0" dirty="0" smtClean="0">
                <a:solidFill>
                  <a:srgbClr val="484848"/>
                </a:solidFill>
                <a:effectLst/>
                <a:latin typeface="Roboto"/>
              </a:rPr>
              <a:t>A boat whose speed is 21 km/</a:t>
            </a:r>
            <a:r>
              <a:rPr lang="en-US" b="0" i="0" dirty="0" err="1" smtClean="0">
                <a:solidFill>
                  <a:srgbClr val="484848"/>
                </a:solidFill>
                <a:effectLst/>
                <a:latin typeface="Roboto"/>
              </a:rPr>
              <a:t>hr</a:t>
            </a:r>
            <a:r>
              <a:rPr lang="en-US" b="0" i="0" dirty="0" smtClean="0">
                <a:solidFill>
                  <a:srgbClr val="484848"/>
                </a:solidFill>
                <a:effectLst/>
                <a:latin typeface="Roboto"/>
              </a:rPr>
              <a:t> in still water goes 60 km downstream and comes back in a total of 7 hours. The approx. speed of the stream (in km/</a:t>
            </a:r>
            <a:r>
              <a:rPr lang="en-US" b="0" i="0" dirty="0" err="1" smtClean="0">
                <a:solidFill>
                  <a:srgbClr val="484848"/>
                </a:solidFill>
                <a:effectLst/>
                <a:latin typeface="Roboto"/>
              </a:rPr>
              <a:t>hr</a:t>
            </a:r>
            <a:r>
              <a:rPr lang="en-US" b="0" i="0" dirty="0" smtClean="0">
                <a:solidFill>
                  <a:srgbClr val="484848"/>
                </a:solidFill>
                <a:effectLst/>
                <a:latin typeface="Roboto"/>
              </a:rPr>
              <a:t>) is: </a:t>
            </a:r>
          </a:p>
          <a:p>
            <a:r>
              <a:rPr lang="en-US" b="0" i="0" dirty="0" smtClean="0">
                <a:solidFill>
                  <a:srgbClr val="484848"/>
                </a:solidFill>
                <a:effectLst/>
                <a:latin typeface="Roboto"/>
              </a:rPr>
              <a:t>9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12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14 km/</a:t>
            </a:r>
            <a:r>
              <a:rPr lang="en-US" b="0" i="0" dirty="0" err="1" smtClean="0">
                <a:solidFill>
                  <a:srgbClr val="484848"/>
                </a:solidFill>
                <a:effectLst/>
                <a:latin typeface="Roboto"/>
              </a:rPr>
              <a:t>hr</a:t>
            </a:r>
            <a:endParaRPr lang="en-US" b="0" i="0" dirty="0" smtClean="0">
              <a:solidFill>
                <a:srgbClr val="484848"/>
              </a:solidFill>
              <a:effectLst/>
              <a:latin typeface="Roboto"/>
            </a:endParaRPr>
          </a:p>
          <a:p>
            <a:r>
              <a:rPr lang="en-US" b="0" i="0" dirty="0" smtClean="0">
                <a:solidFill>
                  <a:srgbClr val="484848"/>
                </a:solidFill>
                <a:effectLst/>
                <a:latin typeface="Roboto"/>
              </a:rPr>
              <a:t>16 km/</a:t>
            </a:r>
            <a:r>
              <a:rPr lang="en-US" b="0" i="0" dirty="0" err="1" smtClean="0">
                <a:solidFill>
                  <a:srgbClr val="484848"/>
                </a:solidFill>
                <a:effectLst/>
                <a:latin typeface="Roboto"/>
              </a:rPr>
              <a:t>hr</a:t>
            </a:r>
            <a:endParaRPr lang="en-US" b="0" i="0" dirty="0">
              <a:solidFill>
                <a:srgbClr val="484848"/>
              </a:solidFill>
              <a:effectLst/>
              <a:latin typeface="Roboto"/>
            </a:endParaRPr>
          </a:p>
        </p:txBody>
      </p:sp>
    </p:spTree>
    <p:extLst>
      <p:ext uri="{BB962C8B-B14F-4D97-AF65-F5344CB8AC3E}">
        <p14:creationId xmlns:p14="http://schemas.microsoft.com/office/powerpoint/2010/main" val="1262397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975" y="386366"/>
            <a:ext cx="8397025" cy="1754326"/>
          </a:xfrm>
          <a:prstGeom prst="rect">
            <a:avLst/>
          </a:prstGeom>
        </p:spPr>
        <p:txBody>
          <a:bodyPr wrap="square">
            <a:spAutoFit/>
          </a:bodyPr>
          <a:lstStyle/>
          <a:p>
            <a:r>
              <a:rPr lang="en-US" b="0" i="0" dirty="0" smtClean="0">
                <a:solidFill>
                  <a:srgbClr val="484848"/>
                </a:solidFill>
                <a:effectLst/>
                <a:latin typeface="Roboto"/>
              </a:rPr>
              <a:t>Two angles are supplementary and the ratio of the angles is 1:4. What is the value of a smaller angle?</a:t>
            </a:r>
          </a:p>
          <a:p>
            <a:r>
              <a:rPr lang="en-US" b="0" i="0" dirty="0" smtClean="0">
                <a:solidFill>
                  <a:srgbClr val="484848"/>
                </a:solidFill>
                <a:effectLst/>
                <a:latin typeface="Roboto"/>
              </a:rPr>
              <a:t>36 degree</a:t>
            </a:r>
          </a:p>
          <a:p>
            <a:r>
              <a:rPr lang="en-US" b="0" i="0" dirty="0" smtClean="0">
                <a:solidFill>
                  <a:srgbClr val="484848"/>
                </a:solidFill>
                <a:effectLst/>
                <a:latin typeface="Roboto"/>
              </a:rPr>
              <a:t>45 degree</a:t>
            </a:r>
          </a:p>
          <a:p>
            <a:r>
              <a:rPr lang="en-US" b="0" i="0" dirty="0" smtClean="0">
                <a:solidFill>
                  <a:srgbClr val="484848"/>
                </a:solidFill>
                <a:effectLst/>
                <a:latin typeface="Roboto"/>
              </a:rPr>
              <a:t>35 degree</a:t>
            </a:r>
          </a:p>
          <a:p>
            <a:r>
              <a:rPr lang="en-US" b="0" i="0" dirty="0" smtClean="0">
                <a:solidFill>
                  <a:srgbClr val="484848"/>
                </a:solidFill>
                <a:effectLst/>
                <a:latin typeface="Roboto"/>
              </a:rPr>
              <a:t>72 degree</a:t>
            </a:r>
            <a:endParaRPr lang="en-US" b="0" i="0" dirty="0">
              <a:solidFill>
                <a:srgbClr val="484848"/>
              </a:solidFill>
              <a:effectLst/>
              <a:latin typeface="Roboto"/>
            </a:endParaRPr>
          </a:p>
        </p:txBody>
      </p:sp>
    </p:spTree>
    <p:extLst>
      <p:ext uri="{BB962C8B-B14F-4D97-AF65-F5344CB8AC3E}">
        <p14:creationId xmlns:p14="http://schemas.microsoft.com/office/powerpoint/2010/main" val="3730250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189" y="579550"/>
            <a:ext cx="8100811" cy="2031325"/>
          </a:xfrm>
          <a:prstGeom prst="rect">
            <a:avLst/>
          </a:prstGeom>
        </p:spPr>
        <p:txBody>
          <a:bodyPr wrap="square">
            <a:spAutoFit/>
          </a:bodyPr>
          <a:lstStyle/>
          <a:p>
            <a:r>
              <a:rPr lang="en-US" b="0" i="0" dirty="0" smtClean="0">
                <a:solidFill>
                  <a:srgbClr val="484848"/>
                </a:solidFill>
                <a:effectLst/>
                <a:latin typeface="Roboto"/>
              </a:rPr>
              <a:t>The length of the common chord of two intersecting circles is 24 cm. If the diameter of the circles are 30 cm and 26 cm, then the distance between the center (in cm) is </a:t>
            </a:r>
          </a:p>
          <a:p>
            <a:r>
              <a:rPr lang="en-US" b="0" i="0" dirty="0" smtClean="0">
                <a:solidFill>
                  <a:srgbClr val="484848"/>
                </a:solidFill>
                <a:effectLst/>
                <a:latin typeface="Roboto"/>
              </a:rPr>
              <a:t>13</a:t>
            </a:r>
          </a:p>
          <a:p>
            <a:r>
              <a:rPr lang="en-US" b="0" i="0" dirty="0" smtClean="0">
                <a:solidFill>
                  <a:srgbClr val="484848"/>
                </a:solidFill>
                <a:effectLst/>
                <a:latin typeface="Roboto"/>
              </a:rPr>
              <a:t>15</a:t>
            </a:r>
          </a:p>
          <a:p>
            <a:r>
              <a:rPr lang="en-US" b="0" i="0" dirty="0" smtClean="0">
                <a:solidFill>
                  <a:srgbClr val="484848"/>
                </a:solidFill>
                <a:effectLst/>
                <a:latin typeface="Roboto"/>
              </a:rPr>
              <a:t>14</a:t>
            </a:r>
          </a:p>
          <a:p>
            <a:r>
              <a:rPr lang="en-US" b="0" i="0" dirty="0" smtClean="0">
                <a:solidFill>
                  <a:srgbClr val="484848"/>
                </a:solidFill>
                <a:effectLst/>
                <a:latin typeface="Roboto"/>
              </a:rPr>
              <a:t>16</a:t>
            </a:r>
            <a:endParaRPr lang="en-US" b="0" i="0" dirty="0">
              <a:solidFill>
                <a:srgbClr val="484848"/>
              </a:solidFill>
              <a:effectLst/>
              <a:latin typeface="Roboto"/>
            </a:endParaRPr>
          </a:p>
        </p:txBody>
      </p:sp>
    </p:spTree>
    <p:extLst>
      <p:ext uri="{BB962C8B-B14F-4D97-AF65-F5344CB8AC3E}">
        <p14:creationId xmlns:p14="http://schemas.microsoft.com/office/powerpoint/2010/main" val="4223229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1369" y="515155"/>
            <a:ext cx="10650828" cy="1754326"/>
          </a:xfrm>
          <a:prstGeom prst="rect">
            <a:avLst/>
          </a:prstGeom>
        </p:spPr>
        <p:txBody>
          <a:bodyPr wrap="square">
            <a:spAutoFit/>
          </a:bodyPr>
          <a:lstStyle/>
          <a:p>
            <a:r>
              <a:rPr lang="en-US" b="0" i="0" dirty="0" smtClean="0">
                <a:solidFill>
                  <a:srgbClr val="484848"/>
                </a:solidFill>
                <a:effectLst/>
                <a:latin typeface="Roboto"/>
              </a:rPr>
              <a:t>For a man, the angle of elevation of the highest point of the temple situated east of him is 60</a:t>
            </a:r>
            <a:r>
              <a:rPr lang="en-US" b="0" i="0" baseline="30000" dirty="0" smtClean="0">
                <a:solidFill>
                  <a:srgbClr val="484848"/>
                </a:solidFill>
                <a:effectLst/>
                <a:latin typeface="Roboto"/>
              </a:rPr>
              <a:t>o</a:t>
            </a:r>
            <a:r>
              <a:rPr lang="en-US" b="0" i="0" dirty="0" smtClean="0">
                <a:solidFill>
                  <a:srgbClr val="484848"/>
                </a:solidFill>
                <a:effectLst/>
                <a:latin typeface="Roboto"/>
              </a:rPr>
              <a:t>. On walking 240 </a:t>
            </a:r>
            <a:r>
              <a:rPr lang="en-US" b="0" i="0" dirty="0" err="1" smtClean="0">
                <a:solidFill>
                  <a:srgbClr val="484848"/>
                </a:solidFill>
                <a:effectLst/>
                <a:latin typeface="Roboto"/>
              </a:rPr>
              <a:t>metres</a:t>
            </a:r>
            <a:r>
              <a:rPr lang="en-US" b="0" i="0" dirty="0" smtClean="0">
                <a:solidFill>
                  <a:srgbClr val="484848"/>
                </a:solidFill>
                <a:effectLst/>
                <a:latin typeface="Roboto"/>
              </a:rPr>
              <a:t> to north, the angle of elevation is reduced to 30</a:t>
            </a:r>
            <a:r>
              <a:rPr lang="en-US" b="0" i="0" baseline="30000" dirty="0" smtClean="0">
                <a:solidFill>
                  <a:srgbClr val="484848"/>
                </a:solidFill>
                <a:effectLst/>
                <a:latin typeface="Roboto"/>
              </a:rPr>
              <a:t>o</a:t>
            </a:r>
            <a:r>
              <a:rPr lang="en-US" b="0" i="0" dirty="0" smtClean="0">
                <a:solidFill>
                  <a:srgbClr val="484848"/>
                </a:solidFill>
                <a:effectLst/>
                <a:latin typeface="Roboto"/>
              </a:rPr>
              <a:t>, then the height of the temple is </a:t>
            </a:r>
          </a:p>
          <a:p>
            <a:r>
              <a:rPr lang="en-US" b="0" i="0" dirty="0" smtClean="0">
                <a:solidFill>
                  <a:srgbClr val="484848"/>
                </a:solidFill>
                <a:effectLst/>
                <a:latin typeface="Roboto"/>
              </a:rPr>
              <a:t>60√6m</a:t>
            </a:r>
          </a:p>
          <a:p>
            <a:r>
              <a:rPr lang="en-US" b="0" i="0" dirty="0" smtClean="0">
                <a:solidFill>
                  <a:srgbClr val="484848"/>
                </a:solidFill>
                <a:effectLst/>
                <a:latin typeface="Roboto"/>
              </a:rPr>
              <a:t>60 m</a:t>
            </a:r>
          </a:p>
          <a:p>
            <a:r>
              <a:rPr lang="en-US" b="0" i="0" dirty="0" smtClean="0">
                <a:solidFill>
                  <a:srgbClr val="484848"/>
                </a:solidFill>
                <a:effectLst/>
                <a:latin typeface="Roboto"/>
              </a:rPr>
              <a:t>50√3m</a:t>
            </a:r>
          </a:p>
          <a:p>
            <a:r>
              <a:rPr lang="en-US" b="0" i="0" dirty="0" smtClean="0">
                <a:solidFill>
                  <a:srgbClr val="484848"/>
                </a:solidFill>
                <a:effectLst/>
                <a:latin typeface="Roboto"/>
              </a:rPr>
              <a:t>30√6m</a:t>
            </a:r>
            <a:endParaRPr lang="en-US" b="0" i="0" dirty="0">
              <a:solidFill>
                <a:srgbClr val="484848"/>
              </a:solidFill>
              <a:effectLst/>
              <a:latin typeface="Roboto"/>
            </a:endParaRPr>
          </a:p>
        </p:txBody>
      </p:sp>
    </p:spTree>
    <p:extLst>
      <p:ext uri="{BB962C8B-B14F-4D97-AF65-F5344CB8AC3E}">
        <p14:creationId xmlns:p14="http://schemas.microsoft.com/office/powerpoint/2010/main" val="878947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8338" y="115910"/>
            <a:ext cx="8435662" cy="1754326"/>
          </a:xfrm>
          <a:prstGeom prst="rect">
            <a:avLst/>
          </a:prstGeom>
        </p:spPr>
        <p:txBody>
          <a:bodyPr wrap="square">
            <a:spAutoFit/>
          </a:bodyPr>
          <a:lstStyle/>
          <a:p>
            <a:r>
              <a:rPr lang="en-US" b="0" i="0" dirty="0" smtClean="0">
                <a:solidFill>
                  <a:srgbClr val="484848"/>
                </a:solidFill>
                <a:effectLst/>
                <a:latin typeface="Roboto"/>
              </a:rPr>
              <a:t>The angle of depression of a point situated at a distance of 70 meters from the base of a tower is 45</a:t>
            </a:r>
            <a:r>
              <a:rPr lang="en-US" b="0" i="0" baseline="30000" dirty="0" smtClean="0">
                <a:solidFill>
                  <a:srgbClr val="484848"/>
                </a:solidFill>
                <a:effectLst/>
                <a:latin typeface="Roboto"/>
              </a:rPr>
              <a:t>o</a:t>
            </a:r>
            <a:r>
              <a:rPr lang="en-US" b="0" i="0" dirty="0" smtClean="0">
                <a:solidFill>
                  <a:srgbClr val="484848"/>
                </a:solidFill>
                <a:effectLst/>
                <a:latin typeface="Roboto"/>
              </a:rPr>
              <a:t>. The height of the tower is</a:t>
            </a:r>
          </a:p>
          <a:p>
            <a:r>
              <a:rPr lang="en-US" b="0" i="0" dirty="0" smtClean="0">
                <a:solidFill>
                  <a:srgbClr val="484848"/>
                </a:solidFill>
                <a:effectLst/>
                <a:latin typeface="Roboto"/>
              </a:rPr>
              <a:t>70 m</a:t>
            </a:r>
          </a:p>
          <a:p>
            <a:r>
              <a:rPr lang="en-US" b="0" i="0" dirty="0" smtClean="0">
                <a:solidFill>
                  <a:srgbClr val="484848"/>
                </a:solidFill>
                <a:effectLst/>
                <a:latin typeface="Roboto"/>
              </a:rPr>
              <a:t>70√2 m</a:t>
            </a:r>
          </a:p>
          <a:p>
            <a:r>
              <a:rPr lang="en-US" b="0" i="0" dirty="0" smtClean="0">
                <a:solidFill>
                  <a:srgbClr val="484848"/>
                </a:solidFill>
                <a:effectLst/>
                <a:latin typeface="Roboto"/>
              </a:rPr>
              <a:t>70/√2m</a:t>
            </a:r>
          </a:p>
          <a:p>
            <a:r>
              <a:rPr lang="en-US" b="0" i="0" dirty="0" smtClean="0">
                <a:solidFill>
                  <a:srgbClr val="484848"/>
                </a:solidFill>
                <a:effectLst/>
                <a:latin typeface="Roboto"/>
              </a:rPr>
              <a:t>35 m</a:t>
            </a:r>
            <a:endParaRPr lang="en-US" b="0" i="0" dirty="0">
              <a:solidFill>
                <a:srgbClr val="484848"/>
              </a:solidFill>
              <a:effectLst/>
              <a:latin typeface="Roboto"/>
            </a:endParaRPr>
          </a:p>
        </p:txBody>
      </p:sp>
    </p:spTree>
    <p:extLst>
      <p:ext uri="{BB962C8B-B14F-4D97-AF65-F5344CB8AC3E}">
        <p14:creationId xmlns:p14="http://schemas.microsoft.com/office/powerpoint/2010/main" val="1708258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975" y="463640"/>
            <a:ext cx="10792495" cy="1754326"/>
          </a:xfrm>
          <a:prstGeom prst="rect">
            <a:avLst/>
          </a:prstGeom>
        </p:spPr>
        <p:txBody>
          <a:bodyPr wrap="square">
            <a:spAutoFit/>
          </a:bodyPr>
          <a:lstStyle/>
          <a:p>
            <a:r>
              <a:rPr lang="en-US" b="0" i="0" dirty="0" smtClean="0">
                <a:solidFill>
                  <a:srgbClr val="484848"/>
                </a:solidFill>
                <a:effectLst/>
                <a:latin typeface="Roboto"/>
              </a:rPr>
              <a:t>Two clocks chime once every P minutes and every Q minutes respectively. If P and Q are primes then at what intervals do the two clocks chime together?</a:t>
            </a:r>
          </a:p>
          <a:p>
            <a:r>
              <a:rPr lang="en-US" b="0" i="0" dirty="0" smtClean="0">
                <a:solidFill>
                  <a:srgbClr val="484848"/>
                </a:solidFill>
                <a:effectLst/>
                <a:latin typeface="Roboto"/>
              </a:rPr>
              <a:t>P + Q min</a:t>
            </a:r>
          </a:p>
          <a:p>
            <a:r>
              <a:rPr lang="en-US" b="0" i="0" dirty="0" smtClean="0">
                <a:solidFill>
                  <a:srgbClr val="484848"/>
                </a:solidFill>
                <a:effectLst/>
                <a:latin typeface="Roboto"/>
              </a:rPr>
              <a:t>P/Q min</a:t>
            </a:r>
          </a:p>
          <a:p>
            <a:r>
              <a:rPr lang="en-US" b="0" i="0" dirty="0" smtClean="0">
                <a:solidFill>
                  <a:srgbClr val="484848"/>
                </a:solidFill>
                <a:effectLst/>
                <a:latin typeface="Roboto"/>
              </a:rPr>
              <a:t>PQ min</a:t>
            </a:r>
          </a:p>
          <a:p>
            <a:r>
              <a:rPr lang="en-US" b="0" i="0" dirty="0" smtClean="0">
                <a:solidFill>
                  <a:srgbClr val="484848"/>
                </a:solidFill>
                <a:effectLst/>
                <a:latin typeface="Roboto"/>
              </a:rPr>
              <a:t>P</a:t>
            </a:r>
            <a:r>
              <a:rPr lang="en-US" b="0" i="0" baseline="30000" dirty="0" smtClean="0">
                <a:solidFill>
                  <a:srgbClr val="484848"/>
                </a:solidFill>
                <a:effectLst/>
                <a:latin typeface="Roboto"/>
              </a:rPr>
              <a:t>2</a:t>
            </a:r>
            <a:r>
              <a:rPr lang="en-US" b="0" i="0" dirty="0" smtClean="0">
                <a:solidFill>
                  <a:srgbClr val="484848"/>
                </a:solidFill>
                <a:effectLst/>
                <a:latin typeface="Roboto"/>
              </a:rPr>
              <a:t> + Q</a:t>
            </a:r>
            <a:r>
              <a:rPr lang="en-US" b="0" i="0" baseline="30000" dirty="0" smtClean="0">
                <a:solidFill>
                  <a:srgbClr val="484848"/>
                </a:solidFill>
                <a:effectLst/>
                <a:latin typeface="Roboto"/>
              </a:rPr>
              <a:t>2</a:t>
            </a:r>
            <a:r>
              <a:rPr lang="en-US" b="0" i="0" dirty="0" smtClean="0">
                <a:solidFill>
                  <a:srgbClr val="484848"/>
                </a:solidFill>
                <a:effectLst/>
                <a:latin typeface="Roboto"/>
              </a:rPr>
              <a:t> min</a:t>
            </a:r>
            <a:endParaRPr lang="en-US" b="0" i="0" dirty="0">
              <a:solidFill>
                <a:srgbClr val="484848"/>
              </a:solidFill>
              <a:effectLst/>
              <a:latin typeface="Roboto"/>
            </a:endParaRPr>
          </a:p>
        </p:txBody>
      </p:sp>
    </p:spTree>
    <p:extLst>
      <p:ext uri="{BB962C8B-B14F-4D97-AF65-F5344CB8AC3E}">
        <p14:creationId xmlns:p14="http://schemas.microsoft.com/office/powerpoint/2010/main" val="3227399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3639" y="283335"/>
            <a:ext cx="8680361" cy="1754326"/>
          </a:xfrm>
          <a:prstGeom prst="rect">
            <a:avLst/>
          </a:prstGeom>
        </p:spPr>
        <p:txBody>
          <a:bodyPr wrap="square">
            <a:spAutoFit/>
          </a:bodyPr>
          <a:lstStyle/>
          <a:p>
            <a:r>
              <a:rPr lang="en-US" b="0" i="0" dirty="0" smtClean="0">
                <a:solidFill>
                  <a:srgbClr val="484848"/>
                </a:solidFill>
                <a:effectLst/>
                <a:latin typeface="Roboto"/>
              </a:rPr>
              <a:t>One number is 3 more than another and the sum of their square is 269. Find the numbers.</a:t>
            </a:r>
          </a:p>
          <a:p>
            <a:r>
              <a:rPr lang="en-US" b="0" i="0" dirty="0" smtClean="0">
                <a:solidFill>
                  <a:srgbClr val="484848"/>
                </a:solidFill>
                <a:effectLst/>
                <a:latin typeface="Roboto"/>
              </a:rPr>
              <a:t>10 and 13</a:t>
            </a:r>
          </a:p>
          <a:p>
            <a:r>
              <a:rPr lang="en-US" b="0" i="0" dirty="0" smtClean="0">
                <a:solidFill>
                  <a:srgbClr val="484848"/>
                </a:solidFill>
                <a:effectLst/>
                <a:latin typeface="Roboto"/>
              </a:rPr>
              <a:t>12 and 14</a:t>
            </a:r>
          </a:p>
          <a:p>
            <a:r>
              <a:rPr lang="en-US" b="0" i="0" dirty="0" smtClean="0">
                <a:solidFill>
                  <a:srgbClr val="484848"/>
                </a:solidFill>
                <a:effectLst/>
                <a:latin typeface="Roboto"/>
              </a:rPr>
              <a:t>15 and 30</a:t>
            </a:r>
          </a:p>
          <a:p>
            <a:r>
              <a:rPr lang="en-US" b="0" i="0" dirty="0" smtClean="0">
                <a:solidFill>
                  <a:srgbClr val="484848"/>
                </a:solidFill>
                <a:effectLst/>
                <a:latin typeface="Roboto"/>
              </a:rPr>
              <a:t>20 and 11</a:t>
            </a:r>
            <a:endParaRPr lang="en-US" b="0" i="0" dirty="0">
              <a:solidFill>
                <a:srgbClr val="484848"/>
              </a:solidFill>
              <a:effectLst/>
              <a:latin typeface="Roboto"/>
            </a:endParaRPr>
          </a:p>
        </p:txBody>
      </p:sp>
    </p:spTree>
    <p:extLst>
      <p:ext uri="{BB962C8B-B14F-4D97-AF65-F5344CB8AC3E}">
        <p14:creationId xmlns:p14="http://schemas.microsoft.com/office/powerpoint/2010/main" val="2365203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8794" y="373487"/>
            <a:ext cx="10586434" cy="1754326"/>
          </a:xfrm>
          <a:prstGeom prst="rect">
            <a:avLst/>
          </a:prstGeom>
        </p:spPr>
        <p:txBody>
          <a:bodyPr wrap="square">
            <a:spAutoFit/>
          </a:bodyPr>
          <a:lstStyle/>
          <a:p>
            <a:r>
              <a:rPr lang="en-US" b="0" i="0" dirty="0" smtClean="0">
                <a:solidFill>
                  <a:srgbClr val="484848"/>
                </a:solidFill>
                <a:effectLst/>
                <a:latin typeface="Roboto"/>
              </a:rPr>
              <a:t>One brother is 5 years older than the other. One-third of the older brother’s age now is equal to the age of the younger brother 1 year ago. How old will the younger brother be in 4 years?</a:t>
            </a:r>
          </a:p>
          <a:p>
            <a:r>
              <a:rPr lang="en-US" b="0" i="0" dirty="0" smtClean="0">
                <a:solidFill>
                  <a:srgbClr val="484848"/>
                </a:solidFill>
                <a:effectLst/>
                <a:latin typeface="Roboto"/>
              </a:rPr>
              <a:t>4</a:t>
            </a:r>
          </a:p>
          <a:p>
            <a:r>
              <a:rPr lang="en-US" b="0" i="0" dirty="0" smtClean="0">
                <a:solidFill>
                  <a:srgbClr val="484848"/>
                </a:solidFill>
                <a:effectLst/>
                <a:latin typeface="Roboto"/>
              </a:rPr>
              <a:t>6</a:t>
            </a:r>
          </a:p>
          <a:p>
            <a:r>
              <a:rPr lang="en-US" b="0" i="0" dirty="0" smtClean="0">
                <a:solidFill>
                  <a:srgbClr val="484848"/>
                </a:solidFill>
                <a:effectLst/>
                <a:latin typeface="Roboto"/>
              </a:rPr>
              <a:t>8</a:t>
            </a:r>
          </a:p>
          <a:p>
            <a:r>
              <a:rPr lang="en-US" b="0" i="0" dirty="0" smtClean="0">
                <a:solidFill>
                  <a:srgbClr val="484848"/>
                </a:solidFill>
                <a:effectLst/>
                <a:latin typeface="Roboto"/>
              </a:rPr>
              <a:t>13</a:t>
            </a:r>
            <a:endParaRPr lang="en-US" b="0" i="0" dirty="0">
              <a:solidFill>
                <a:srgbClr val="484848"/>
              </a:solidFill>
              <a:effectLst/>
              <a:latin typeface="Roboto"/>
            </a:endParaRPr>
          </a:p>
        </p:txBody>
      </p:sp>
    </p:spTree>
    <p:extLst>
      <p:ext uri="{BB962C8B-B14F-4D97-AF65-F5344CB8AC3E}">
        <p14:creationId xmlns:p14="http://schemas.microsoft.com/office/powerpoint/2010/main" val="23576492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489397"/>
            <a:ext cx="10650828" cy="1754326"/>
          </a:xfrm>
          <a:prstGeom prst="rect">
            <a:avLst/>
          </a:prstGeom>
        </p:spPr>
        <p:txBody>
          <a:bodyPr wrap="square">
            <a:spAutoFit/>
          </a:bodyPr>
          <a:lstStyle/>
          <a:p>
            <a:r>
              <a:rPr lang="en-US" b="0" i="0" dirty="0" smtClean="0">
                <a:solidFill>
                  <a:srgbClr val="484848"/>
                </a:solidFill>
                <a:effectLst/>
                <a:latin typeface="Roboto"/>
              </a:rPr>
              <a:t>Rohan is as much younger than Ajay as he is older than </a:t>
            </a:r>
            <a:r>
              <a:rPr lang="en-US" b="0" i="0" dirty="0" err="1" smtClean="0">
                <a:solidFill>
                  <a:srgbClr val="484848"/>
                </a:solidFill>
                <a:effectLst/>
                <a:latin typeface="Roboto"/>
              </a:rPr>
              <a:t>Meena</a:t>
            </a:r>
            <a:r>
              <a:rPr lang="en-US" b="0" i="0" dirty="0" smtClean="0">
                <a:solidFill>
                  <a:srgbClr val="484848"/>
                </a:solidFill>
                <a:effectLst/>
                <a:latin typeface="Roboto"/>
              </a:rPr>
              <a:t>. The sum of the ages of Ajay and </a:t>
            </a:r>
            <a:r>
              <a:rPr lang="en-US" b="0" i="0" dirty="0" err="1" smtClean="0">
                <a:solidFill>
                  <a:srgbClr val="484848"/>
                </a:solidFill>
                <a:effectLst/>
                <a:latin typeface="Roboto"/>
              </a:rPr>
              <a:t>Meena</a:t>
            </a:r>
            <a:r>
              <a:rPr lang="en-US" b="0" i="0" dirty="0" smtClean="0">
                <a:solidFill>
                  <a:srgbClr val="484848"/>
                </a:solidFill>
                <a:effectLst/>
                <a:latin typeface="Roboto"/>
              </a:rPr>
              <a:t> is 108 years. How old is Rohan?</a:t>
            </a:r>
          </a:p>
          <a:p>
            <a:r>
              <a:rPr lang="en-US" b="0" i="0" dirty="0" smtClean="0">
                <a:solidFill>
                  <a:srgbClr val="484848"/>
                </a:solidFill>
                <a:effectLst/>
                <a:latin typeface="Roboto"/>
              </a:rPr>
              <a:t>32 years</a:t>
            </a:r>
          </a:p>
          <a:p>
            <a:r>
              <a:rPr lang="en-US" b="0" i="0" dirty="0" smtClean="0">
                <a:solidFill>
                  <a:srgbClr val="484848"/>
                </a:solidFill>
                <a:effectLst/>
                <a:latin typeface="Roboto"/>
              </a:rPr>
              <a:t>64 years</a:t>
            </a:r>
          </a:p>
          <a:p>
            <a:r>
              <a:rPr lang="en-US" b="0" i="0" dirty="0" smtClean="0">
                <a:solidFill>
                  <a:srgbClr val="484848"/>
                </a:solidFill>
                <a:effectLst/>
                <a:latin typeface="Roboto"/>
              </a:rPr>
              <a:t>54 years</a:t>
            </a:r>
          </a:p>
          <a:p>
            <a:r>
              <a:rPr lang="en-US" b="0" i="0" dirty="0" smtClean="0">
                <a:solidFill>
                  <a:srgbClr val="484848"/>
                </a:solidFill>
                <a:effectLst/>
                <a:latin typeface="Roboto"/>
              </a:rPr>
              <a:t>36 years</a:t>
            </a:r>
            <a:endParaRPr lang="en-US" b="0" i="0" dirty="0">
              <a:solidFill>
                <a:srgbClr val="484848"/>
              </a:solidFill>
              <a:effectLst/>
              <a:latin typeface="Roboto"/>
            </a:endParaRPr>
          </a:p>
        </p:txBody>
      </p:sp>
    </p:spTree>
    <p:extLst>
      <p:ext uri="{BB962C8B-B14F-4D97-AF65-F5344CB8AC3E}">
        <p14:creationId xmlns:p14="http://schemas.microsoft.com/office/powerpoint/2010/main" val="6792949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761" y="502276"/>
            <a:ext cx="8693239" cy="1754326"/>
          </a:xfrm>
          <a:prstGeom prst="rect">
            <a:avLst/>
          </a:prstGeom>
        </p:spPr>
        <p:txBody>
          <a:bodyPr wrap="square">
            <a:spAutoFit/>
          </a:bodyPr>
          <a:lstStyle/>
          <a:p>
            <a:r>
              <a:rPr lang="en-US" b="0" i="0" dirty="0" smtClean="0">
                <a:solidFill>
                  <a:srgbClr val="484848"/>
                </a:solidFill>
                <a:effectLst/>
                <a:latin typeface="Roboto"/>
              </a:rPr>
              <a:t>What should be the value of a, in the polynomials x</a:t>
            </a:r>
            <a:r>
              <a:rPr lang="en-US" b="0" i="0" baseline="30000" dirty="0" smtClean="0">
                <a:solidFill>
                  <a:srgbClr val="484848"/>
                </a:solidFill>
                <a:effectLst/>
                <a:latin typeface="Roboto"/>
              </a:rPr>
              <a:t>2</a:t>
            </a:r>
            <a:r>
              <a:rPr lang="en-US" b="0" i="0" dirty="0" smtClean="0">
                <a:solidFill>
                  <a:srgbClr val="484848"/>
                </a:solidFill>
                <a:effectLst/>
                <a:latin typeface="Roboto"/>
              </a:rPr>
              <a:t>-11x+a and x</a:t>
            </a:r>
            <a:r>
              <a:rPr lang="en-US" b="0" i="0" baseline="30000" dirty="0" smtClean="0">
                <a:solidFill>
                  <a:srgbClr val="484848"/>
                </a:solidFill>
                <a:effectLst/>
                <a:latin typeface="Roboto"/>
              </a:rPr>
              <a:t>2</a:t>
            </a:r>
            <a:r>
              <a:rPr lang="en-US" b="0" i="0" dirty="0" smtClean="0">
                <a:solidFill>
                  <a:srgbClr val="484848"/>
                </a:solidFill>
                <a:effectLst/>
                <a:latin typeface="Roboto"/>
              </a:rPr>
              <a:t>-14x+2a, so that these two polynomials have common factors?</a:t>
            </a:r>
          </a:p>
          <a:p>
            <a:r>
              <a:rPr lang="en-US" b="0" i="0" dirty="0" smtClean="0">
                <a:solidFill>
                  <a:srgbClr val="484848"/>
                </a:solidFill>
                <a:effectLst/>
                <a:latin typeface="Roboto"/>
              </a:rPr>
              <a:t>24</a:t>
            </a:r>
          </a:p>
          <a:p>
            <a:r>
              <a:rPr lang="en-US" b="0" i="0" dirty="0" smtClean="0">
                <a:solidFill>
                  <a:srgbClr val="484848"/>
                </a:solidFill>
                <a:effectLst/>
                <a:latin typeface="Roboto"/>
              </a:rPr>
              <a:t>1</a:t>
            </a:r>
          </a:p>
          <a:p>
            <a:r>
              <a:rPr lang="en-US" b="0" i="0" dirty="0" smtClean="0">
                <a:solidFill>
                  <a:srgbClr val="484848"/>
                </a:solidFill>
                <a:effectLst/>
                <a:latin typeface="Roboto"/>
              </a:rPr>
              <a:t>-1</a:t>
            </a:r>
          </a:p>
          <a:p>
            <a:r>
              <a:rPr lang="en-US" b="0" i="0" dirty="0" smtClean="0">
                <a:solidFill>
                  <a:srgbClr val="484848"/>
                </a:solidFill>
                <a:effectLst/>
                <a:latin typeface="Roboto"/>
              </a:rPr>
              <a:t>1/2</a:t>
            </a:r>
            <a:endParaRPr lang="en-US" b="0" i="0" dirty="0">
              <a:solidFill>
                <a:srgbClr val="484848"/>
              </a:solidFill>
              <a:effectLst/>
              <a:latin typeface="Roboto"/>
            </a:endParaRPr>
          </a:p>
        </p:txBody>
      </p:sp>
    </p:spTree>
    <p:extLst>
      <p:ext uri="{BB962C8B-B14F-4D97-AF65-F5344CB8AC3E}">
        <p14:creationId xmlns:p14="http://schemas.microsoft.com/office/powerpoint/2010/main" val="373504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1369" y="283335"/>
            <a:ext cx="8332631" cy="1754326"/>
          </a:xfrm>
          <a:prstGeom prst="rect">
            <a:avLst/>
          </a:prstGeom>
        </p:spPr>
        <p:txBody>
          <a:bodyPr wrap="square">
            <a:spAutoFit/>
          </a:bodyPr>
          <a:lstStyle/>
          <a:p>
            <a:r>
              <a:rPr lang="en-US" b="0" i="0" dirty="0" smtClean="0">
                <a:solidFill>
                  <a:srgbClr val="484848"/>
                </a:solidFill>
                <a:effectLst/>
                <a:latin typeface="Roboto"/>
              </a:rPr>
              <a:t>If the equation ax</a:t>
            </a:r>
            <a:r>
              <a:rPr lang="en-US" b="0" i="0" baseline="30000" dirty="0" smtClean="0">
                <a:solidFill>
                  <a:srgbClr val="484848"/>
                </a:solidFill>
                <a:effectLst/>
                <a:latin typeface="Roboto"/>
              </a:rPr>
              <a:t>2</a:t>
            </a:r>
            <a:r>
              <a:rPr lang="en-US" b="0" i="0" dirty="0" smtClean="0">
                <a:solidFill>
                  <a:srgbClr val="484848"/>
                </a:solidFill>
                <a:effectLst/>
                <a:latin typeface="Roboto"/>
              </a:rPr>
              <a:t> + </a:t>
            </a:r>
            <a:r>
              <a:rPr lang="en-US" b="0" i="0" dirty="0" err="1" smtClean="0">
                <a:solidFill>
                  <a:srgbClr val="484848"/>
                </a:solidFill>
                <a:effectLst/>
                <a:latin typeface="Roboto"/>
              </a:rPr>
              <a:t>bx</a:t>
            </a:r>
            <a:r>
              <a:rPr lang="en-US" b="0" i="0" dirty="0" smtClean="0">
                <a:solidFill>
                  <a:srgbClr val="484848"/>
                </a:solidFill>
                <a:effectLst/>
                <a:latin typeface="Roboto"/>
              </a:rPr>
              <a:t> + c = 0, (a &gt; 0) has two roots α, β such that α &lt; –2 and β &gt; 2, then</a:t>
            </a:r>
          </a:p>
          <a:p>
            <a:r>
              <a:rPr lang="en-US" b="0" i="0" dirty="0" smtClean="0">
                <a:solidFill>
                  <a:srgbClr val="484848"/>
                </a:solidFill>
                <a:effectLst/>
                <a:latin typeface="Roboto"/>
              </a:rPr>
              <a:t>a + b + c &gt; 0</a:t>
            </a:r>
          </a:p>
          <a:p>
            <a:r>
              <a:rPr lang="en-US" b="0" i="0" dirty="0" smtClean="0">
                <a:solidFill>
                  <a:srgbClr val="484848"/>
                </a:solidFill>
                <a:effectLst/>
                <a:latin typeface="Roboto"/>
              </a:rPr>
              <a:t>a – b + c &gt; 0</a:t>
            </a:r>
          </a:p>
          <a:p>
            <a:r>
              <a:rPr lang="en-US" b="0" i="0" dirty="0" smtClean="0">
                <a:solidFill>
                  <a:srgbClr val="484848"/>
                </a:solidFill>
                <a:effectLst/>
                <a:latin typeface="Roboto"/>
              </a:rPr>
              <a:t>a + |b| + c &lt; 0</a:t>
            </a:r>
          </a:p>
          <a:p>
            <a:r>
              <a:rPr lang="en-US" b="0" i="0" dirty="0" smtClean="0">
                <a:solidFill>
                  <a:srgbClr val="484848"/>
                </a:solidFill>
                <a:effectLst/>
                <a:latin typeface="Roboto"/>
              </a:rPr>
              <a:t>none of these</a:t>
            </a:r>
            <a:endParaRPr lang="en-US" b="0" i="0" dirty="0">
              <a:solidFill>
                <a:srgbClr val="484848"/>
              </a:solidFill>
              <a:effectLst/>
              <a:latin typeface="Roboto"/>
            </a:endParaRPr>
          </a:p>
        </p:txBody>
      </p:sp>
    </p:spTree>
    <p:extLst>
      <p:ext uri="{BB962C8B-B14F-4D97-AF65-F5344CB8AC3E}">
        <p14:creationId xmlns:p14="http://schemas.microsoft.com/office/powerpoint/2010/main" val="20185817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8794" y="553792"/>
            <a:ext cx="8165206" cy="2862322"/>
          </a:xfrm>
          <a:prstGeom prst="rect">
            <a:avLst/>
          </a:prstGeom>
        </p:spPr>
        <p:txBody>
          <a:bodyPr wrap="square">
            <a:spAutoFit/>
          </a:bodyPr>
          <a:lstStyle/>
          <a:p>
            <a:r>
              <a:rPr lang="en-US" b="0" i="0" smtClean="0">
                <a:solidFill>
                  <a:srgbClr val="484848"/>
                </a:solidFill>
                <a:effectLst/>
                <a:latin typeface="Roboto"/>
              </a:rPr>
              <a:t>A passenger train and a goods train are traveling toward each other on the same track. </a:t>
            </a:r>
            <a:r>
              <a:rPr lang="en-US" b="0" i="0" dirty="0" smtClean="0">
                <a:solidFill>
                  <a:srgbClr val="484848"/>
                </a:solidFill>
                <a:effectLst/>
                <a:latin typeface="Roboto"/>
              </a:rPr>
              <a:t>The passenger train is 150m long traveling at 90 km/h, while the goods train is 250m long traveling at 54 km/h. A bird starts flying from the front of the passenger train when they are 2 km apart, flies to the goods train, then back, and continues until the trains meet. If the bird flies at a constant speed of 108 km/h, what is the total distance covered by the bird?</a:t>
            </a:r>
          </a:p>
          <a:p>
            <a:r>
              <a:rPr lang="en-US" b="0" i="0" dirty="0" smtClean="0">
                <a:solidFill>
                  <a:srgbClr val="484848"/>
                </a:solidFill>
                <a:effectLst/>
                <a:latin typeface="Roboto"/>
              </a:rPr>
              <a:t>1.5 km</a:t>
            </a:r>
          </a:p>
          <a:p>
            <a:r>
              <a:rPr lang="en-US" b="0" i="0" dirty="0" smtClean="0">
                <a:solidFill>
                  <a:srgbClr val="484848"/>
                </a:solidFill>
                <a:effectLst/>
                <a:latin typeface="Roboto"/>
              </a:rPr>
              <a:t>1.8 km</a:t>
            </a:r>
          </a:p>
          <a:p>
            <a:r>
              <a:rPr lang="en-US" b="0" i="0" dirty="0" smtClean="0">
                <a:solidFill>
                  <a:srgbClr val="484848"/>
                </a:solidFill>
                <a:effectLst/>
                <a:latin typeface="Roboto"/>
              </a:rPr>
              <a:t>2.0 km</a:t>
            </a:r>
          </a:p>
          <a:p>
            <a:r>
              <a:rPr lang="en-US" b="0" i="0" dirty="0" smtClean="0">
                <a:solidFill>
                  <a:srgbClr val="484848"/>
                </a:solidFill>
                <a:effectLst/>
                <a:latin typeface="Roboto"/>
              </a:rPr>
              <a:t>2.4 km</a:t>
            </a:r>
            <a:endParaRPr lang="en-US" b="0" i="0" dirty="0">
              <a:solidFill>
                <a:srgbClr val="484848"/>
              </a:solidFill>
              <a:effectLst/>
              <a:latin typeface="Roboto"/>
            </a:endParaRPr>
          </a:p>
        </p:txBody>
      </p:sp>
    </p:spTree>
    <p:extLst>
      <p:ext uri="{BB962C8B-B14F-4D97-AF65-F5344CB8AC3E}">
        <p14:creationId xmlns:p14="http://schemas.microsoft.com/office/powerpoint/2010/main" val="1107258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2429" y="309094"/>
            <a:ext cx="8551572" cy="2308324"/>
          </a:xfrm>
          <a:prstGeom prst="rect">
            <a:avLst/>
          </a:prstGeom>
        </p:spPr>
        <p:txBody>
          <a:bodyPr wrap="square">
            <a:spAutoFit/>
          </a:bodyPr>
          <a:lstStyle/>
          <a:p>
            <a:r>
              <a:rPr lang="en-US" b="0" i="0" dirty="0" smtClean="0">
                <a:solidFill>
                  <a:srgbClr val="484848"/>
                </a:solidFill>
                <a:effectLst/>
                <a:latin typeface="Roboto"/>
              </a:rPr>
              <a:t>Two trains start from stations X and Y, which are 480 km apart, traveling toward each other. The first train leaves X at 7:00 AM at 60 km/h. The second train leaves Y at 8:00 AM. They meet at a point 270 km from X. After meeting, the first train reduces its speed by 20% and reaches Y at what time?</a:t>
            </a:r>
          </a:p>
          <a:p>
            <a:r>
              <a:rPr lang="en-US" b="0" i="0" dirty="0" smtClean="0">
                <a:solidFill>
                  <a:srgbClr val="484848"/>
                </a:solidFill>
                <a:effectLst/>
                <a:latin typeface="Roboto"/>
              </a:rPr>
              <a:t>4:20 PM</a:t>
            </a:r>
          </a:p>
          <a:p>
            <a:r>
              <a:rPr lang="en-US" b="0" i="0" dirty="0" smtClean="0">
                <a:solidFill>
                  <a:srgbClr val="484848"/>
                </a:solidFill>
                <a:effectLst/>
                <a:latin typeface="Roboto"/>
              </a:rPr>
              <a:t>4:40 PM</a:t>
            </a:r>
          </a:p>
          <a:p>
            <a:r>
              <a:rPr lang="en-US" b="0" i="0" dirty="0" smtClean="0">
                <a:solidFill>
                  <a:srgbClr val="484848"/>
                </a:solidFill>
                <a:effectLst/>
                <a:latin typeface="Roboto"/>
              </a:rPr>
              <a:t>5:00 PM</a:t>
            </a:r>
          </a:p>
          <a:p>
            <a:r>
              <a:rPr lang="en-US" b="0" i="0" dirty="0" smtClean="0">
                <a:solidFill>
                  <a:srgbClr val="484848"/>
                </a:solidFill>
                <a:effectLst/>
                <a:latin typeface="Roboto"/>
              </a:rPr>
              <a:t>5:20 PM</a:t>
            </a:r>
            <a:endParaRPr lang="en-US" b="0" i="0" dirty="0">
              <a:solidFill>
                <a:srgbClr val="484848"/>
              </a:solidFill>
              <a:effectLst/>
              <a:latin typeface="Roboto"/>
            </a:endParaRPr>
          </a:p>
        </p:txBody>
      </p:sp>
    </p:spTree>
    <p:extLst>
      <p:ext uri="{BB962C8B-B14F-4D97-AF65-F5344CB8AC3E}">
        <p14:creationId xmlns:p14="http://schemas.microsoft.com/office/powerpoint/2010/main" val="29256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611" y="515156"/>
            <a:ext cx="8358389" cy="1754326"/>
          </a:xfrm>
          <a:prstGeom prst="rect">
            <a:avLst/>
          </a:prstGeom>
        </p:spPr>
        <p:txBody>
          <a:bodyPr wrap="square">
            <a:spAutoFit/>
          </a:bodyPr>
          <a:lstStyle/>
          <a:p>
            <a:r>
              <a:rPr lang="en-US" b="0" i="0" dirty="0" smtClean="0">
                <a:solidFill>
                  <a:srgbClr val="484848"/>
                </a:solidFill>
                <a:effectLst/>
                <a:latin typeface="Roboto"/>
              </a:rPr>
              <a:t>In a 750 m race, the ratio of speeds of </a:t>
            </a:r>
            <a:r>
              <a:rPr lang="en-US" b="0" i="0" dirty="0" err="1" smtClean="0">
                <a:solidFill>
                  <a:srgbClr val="484848"/>
                </a:solidFill>
                <a:effectLst/>
                <a:latin typeface="Roboto"/>
              </a:rPr>
              <a:t>Arun</a:t>
            </a:r>
            <a:r>
              <a:rPr lang="en-US" b="0" i="0" dirty="0" smtClean="0">
                <a:solidFill>
                  <a:srgbClr val="484848"/>
                </a:solidFill>
                <a:effectLst/>
                <a:latin typeface="Roboto"/>
              </a:rPr>
              <a:t> to </a:t>
            </a:r>
            <a:r>
              <a:rPr lang="en-US" b="0" i="0" dirty="0" err="1" smtClean="0">
                <a:solidFill>
                  <a:srgbClr val="484848"/>
                </a:solidFill>
                <a:effectLst/>
                <a:latin typeface="Roboto"/>
              </a:rPr>
              <a:t>Darani</a:t>
            </a:r>
            <a:r>
              <a:rPr lang="en-US" b="0" i="0" dirty="0" smtClean="0">
                <a:solidFill>
                  <a:srgbClr val="484848"/>
                </a:solidFill>
                <a:effectLst/>
                <a:latin typeface="Roboto"/>
              </a:rPr>
              <a:t> is 1:3. </a:t>
            </a:r>
            <a:r>
              <a:rPr lang="en-US" b="0" i="0" dirty="0" err="1" smtClean="0">
                <a:solidFill>
                  <a:srgbClr val="484848"/>
                </a:solidFill>
                <a:effectLst/>
                <a:latin typeface="Roboto"/>
              </a:rPr>
              <a:t>Arun</a:t>
            </a:r>
            <a:r>
              <a:rPr lang="en-US" b="0" i="0" dirty="0" smtClean="0">
                <a:solidFill>
                  <a:srgbClr val="484848"/>
                </a:solidFill>
                <a:effectLst/>
                <a:latin typeface="Roboto"/>
              </a:rPr>
              <a:t> has a head start of 250 m. Who wins the race and by what distance?</a:t>
            </a:r>
          </a:p>
          <a:p>
            <a:r>
              <a:rPr lang="en-US" b="0" i="0" dirty="0" err="1" smtClean="0">
                <a:solidFill>
                  <a:srgbClr val="484848"/>
                </a:solidFill>
                <a:effectLst/>
                <a:latin typeface="Roboto"/>
              </a:rPr>
              <a:t>Arun</a:t>
            </a:r>
            <a:r>
              <a:rPr lang="en-US" b="0" i="0" dirty="0" smtClean="0">
                <a:solidFill>
                  <a:srgbClr val="484848"/>
                </a:solidFill>
                <a:effectLst/>
                <a:latin typeface="Roboto"/>
              </a:rPr>
              <a:t>, 200 m.</a:t>
            </a:r>
          </a:p>
          <a:p>
            <a:r>
              <a:rPr lang="en-US" b="0" i="0" dirty="0" err="1" smtClean="0">
                <a:solidFill>
                  <a:srgbClr val="484848"/>
                </a:solidFill>
                <a:effectLst/>
                <a:latin typeface="Roboto"/>
              </a:rPr>
              <a:t>Darani</a:t>
            </a:r>
            <a:r>
              <a:rPr lang="en-US" b="0" i="0" dirty="0" smtClean="0">
                <a:solidFill>
                  <a:srgbClr val="484848"/>
                </a:solidFill>
                <a:effectLst/>
                <a:latin typeface="Roboto"/>
              </a:rPr>
              <a:t>, 250 m.</a:t>
            </a:r>
          </a:p>
          <a:p>
            <a:r>
              <a:rPr lang="en-US" b="0" i="0" dirty="0" err="1" smtClean="0">
                <a:solidFill>
                  <a:srgbClr val="484848"/>
                </a:solidFill>
                <a:effectLst/>
                <a:latin typeface="Roboto"/>
              </a:rPr>
              <a:t>Arun</a:t>
            </a:r>
            <a:r>
              <a:rPr lang="en-US" b="0" i="0" dirty="0" smtClean="0">
                <a:solidFill>
                  <a:srgbClr val="484848"/>
                </a:solidFill>
                <a:effectLst/>
                <a:latin typeface="Roboto"/>
              </a:rPr>
              <a:t>, 250 m.</a:t>
            </a:r>
          </a:p>
          <a:p>
            <a:r>
              <a:rPr lang="en-US" b="0" i="0" dirty="0" err="1" smtClean="0">
                <a:solidFill>
                  <a:srgbClr val="484848"/>
                </a:solidFill>
                <a:effectLst/>
                <a:latin typeface="Roboto"/>
              </a:rPr>
              <a:t>Darani</a:t>
            </a:r>
            <a:r>
              <a:rPr lang="en-US" b="0" i="0" dirty="0" smtClean="0">
                <a:solidFill>
                  <a:srgbClr val="484848"/>
                </a:solidFill>
                <a:effectLst/>
                <a:latin typeface="Roboto"/>
              </a:rPr>
              <a:t>, 200 m.</a:t>
            </a:r>
            <a:endParaRPr lang="en-US" b="0" i="0" dirty="0">
              <a:solidFill>
                <a:srgbClr val="484848"/>
              </a:solidFill>
              <a:effectLst/>
              <a:latin typeface="Roboto"/>
            </a:endParaRPr>
          </a:p>
        </p:txBody>
      </p:sp>
    </p:spTree>
    <p:extLst>
      <p:ext uri="{BB962C8B-B14F-4D97-AF65-F5344CB8AC3E}">
        <p14:creationId xmlns:p14="http://schemas.microsoft.com/office/powerpoint/2010/main" val="146229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642" y="502276"/>
            <a:ext cx="8255358" cy="2031325"/>
          </a:xfrm>
          <a:prstGeom prst="rect">
            <a:avLst/>
          </a:prstGeom>
        </p:spPr>
        <p:txBody>
          <a:bodyPr wrap="square">
            <a:spAutoFit/>
          </a:bodyPr>
          <a:lstStyle/>
          <a:p>
            <a:r>
              <a:rPr lang="en-US" b="0" i="0" dirty="0" smtClean="0">
                <a:solidFill>
                  <a:srgbClr val="494949"/>
                </a:solidFill>
                <a:effectLst/>
                <a:latin typeface="Roboto"/>
              </a:rPr>
              <a:t>A 270 </a:t>
            </a:r>
            <a:r>
              <a:rPr lang="en-US" b="0" i="0" dirty="0" err="1" smtClean="0">
                <a:solidFill>
                  <a:srgbClr val="494949"/>
                </a:solidFill>
                <a:effectLst/>
                <a:latin typeface="Roboto"/>
              </a:rPr>
              <a:t>metres</a:t>
            </a:r>
            <a:r>
              <a:rPr lang="en-US" b="0" i="0" dirty="0" smtClean="0">
                <a:solidFill>
                  <a:srgbClr val="494949"/>
                </a:solidFill>
                <a:effectLst/>
                <a:latin typeface="Roboto"/>
              </a:rPr>
              <a:t> long train running at the speed of 120 </a:t>
            </a:r>
            <a:r>
              <a:rPr lang="en-US" b="0" i="0" dirty="0" err="1" smtClean="0">
                <a:solidFill>
                  <a:srgbClr val="494949"/>
                </a:solidFill>
                <a:effectLst/>
                <a:latin typeface="Roboto"/>
              </a:rPr>
              <a:t>kmph</a:t>
            </a:r>
            <a:r>
              <a:rPr lang="en-US" b="0" i="0" dirty="0" smtClean="0">
                <a:solidFill>
                  <a:srgbClr val="494949"/>
                </a:solidFill>
                <a:effectLst/>
                <a:latin typeface="Roboto"/>
              </a:rPr>
              <a:t> crosses another train running in the opposite direction at the speed of 80 </a:t>
            </a:r>
            <a:r>
              <a:rPr lang="en-US" b="0" i="0" dirty="0" err="1" smtClean="0">
                <a:solidFill>
                  <a:srgbClr val="494949"/>
                </a:solidFill>
                <a:effectLst/>
                <a:latin typeface="Roboto"/>
              </a:rPr>
              <a:t>kmph</a:t>
            </a:r>
            <a:r>
              <a:rPr lang="en-US" b="0" i="0" dirty="0" smtClean="0">
                <a:solidFill>
                  <a:srgbClr val="494949"/>
                </a:solidFill>
                <a:effectLst/>
                <a:latin typeface="Roboto"/>
              </a:rPr>
              <a:t> in 9 seconds. What is the length of the other train?</a:t>
            </a:r>
            <a:endParaRPr lang="en-US" b="0" i="0" dirty="0" smtClean="0">
              <a:solidFill>
                <a:srgbClr val="484848"/>
              </a:solidFill>
              <a:effectLst/>
              <a:latin typeface="Roboto"/>
            </a:endParaRPr>
          </a:p>
          <a:p>
            <a:r>
              <a:rPr lang="en-US" b="0" i="0" dirty="0" smtClean="0">
                <a:solidFill>
                  <a:srgbClr val="484848"/>
                </a:solidFill>
                <a:effectLst/>
                <a:latin typeface="Roboto"/>
              </a:rPr>
              <a:t>200 m</a:t>
            </a:r>
          </a:p>
          <a:p>
            <a:r>
              <a:rPr lang="en-US" b="0" i="0" dirty="0" smtClean="0">
                <a:solidFill>
                  <a:srgbClr val="484848"/>
                </a:solidFill>
                <a:effectLst/>
                <a:latin typeface="Roboto"/>
              </a:rPr>
              <a:t>220 m</a:t>
            </a:r>
          </a:p>
          <a:p>
            <a:r>
              <a:rPr lang="en-US" b="0" i="0" dirty="0" smtClean="0">
                <a:solidFill>
                  <a:srgbClr val="484848"/>
                </a:solidFill>
                <a:effectLst/>
                <a:latin typeface="Roboto"/>
              </a:rPr>
              <a:t>240 m</a:t>
            </a:r>
          </a:p>
          <a:p>
            <a:r>
              <a:rPr lang="en-US" b="0" i="0" dirty="0" smtClean="0">
                <a:solidFill>
                  <a:srgbClr val="484848"/>
                </a:solidFill>
                <a:effectLst/>
                <a:latin typeface="Roboto"/>
              </a:rPr>
              <a:t>230 m </a:t>
            </a:r>
            <a:endParaRPr lang="en-US" b="0" i="0" dirty="0">
              <a:solidFill>
                <a:srgbClr val="484848"/>
              </a:solidFill>
              <a:effectLst/>
              <a:latin typeface="Roboto"/>
            </a:endParaRPr>
          </a:p>
        </p:txBody>
      </p:sp>
    </p:spTree>
    <p:extLst>
      <p:ext uri="{BB962C8B-B14F-4D97-AF65-F5344CB8AC3E}">
        <p14:creationId xmlns:p14="http://schemas.microsoft.com/office/powerpoint/2010/main" val="1254963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669" y="399245"/>
            <a:ext cx="11333409" cy="2031325"/>
          </a:xfrm>
          <a:prstGeom prst="rect">
            <a:avLst/>
          </a:prstGeom>
        </p:spPr>
        <p:txBody>
          <a:bodyPr wrap="square">
            <a:spAutoFit/>
          </a:bodyPr>
          <a:lstStyle/>
          <a:p>
            <a:r>
              <a:rPr lang="en-US" b="0" i="0" dirty="0" smtClean="0">
                <a:solidFill>
                  <a:srgbClr val="484848"/>
                </a:solidFill>
                <a:effectLst/>
                <a:latin typeface="Roboto"/>
              </a:rPr>
              <a:t>Three men, four women and six children can complete a work in 7 days. A woman does double the work a man does and a child does half the work a man does. How many women alone can complete this work in 7 days ?</a:t>
            </a:r>
          </a:p>
          <a:p>
            <a:r>
              <a:rPr lang="en-US" b="0" i="0" dirty="0" smtClean="0">
                <a:solidFill>
                  <a:srgbClr val="484848"/>
                </a:solidFill>
                <a:effectLst/>
                <a:latin typeface="Roboto"/>
              </a:rPr>
              <a:t>7</a:t>
            </a:r>
          </a:p>
          <a:p>
            <a:r>
              <a:rPr lang="en-US" b="0" i="0" dirty="0" smtClean="0">
                <a:solidFill>
                  <a:srgbClr val="484848"/>
                </a:solidFill>
                <a:effectLst/>
                <a:latin typeface="Roboto"/>
              </a:rPr>
              <a:t>6</a:t>
            </a:r>
          </a:p>
          <a:p>
            <a:r>
              <a:rPr lang="en-US" b="0" i="0" dirty="0" smtClean="0">
                <a:solidFill>
                  <a:srgbClr val="484848"/>
                </a:solidFill>
                <a:effectLst/>
                <a:latin typeface="Roboto"/>
              </a:rPr>
              <a:t>8</a:t>
            </a:r>
          </a:p>
          <a:p>
            <a:r>
              <a:rPr lang="en-US" b="0" i="0" dirty="0" smtClean="0">
                <a:solidFill>
                  <a:srgbClr val="484848"/>
                </a:solidFill>
                <a:effectLst/>
                <a:latin typeface="Roboto"/>
              </a:rPr>
              <a:t>10</a:t>
            </a:r>
            <a:endParaRPr lang="en-US" b="0" i="0" dirty="0">
              <a:solidFill>
                <a:srgbClr val="484848"/>
              </a:solidFill>
              <a:effectLst/>
              <a:latin typeface="Roboto"/>
            </a:endParaRPr>
          </a:p>
        </p:txBody>
      </p:sp>
    </p:spTree>
    <p:extLst>
      <p:ext uri="{BB962C8B-B14F-4D97-AF65-F5344CB8AC3E}">
        <p14:creationId xmlns:p14="http://schemas.microsoft.com/office/powerpoint/2010/main" val="4033800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8338" y="283335"/>
            <a:ext cx="11483662" cy="1477328"/>
          </a:xfrm>
          <a:prstGeom prst="rect">
            <a:avLst/>
          </a:prstGeom>
        </p:spPr>
        <p:txBody>
          <a:bodyPr wrap="square">
            <a:spAutoFit/>
          </a:bodyPr>
          <a:lstStyle/>
          <a:p>
            <a:r>
              <a:rPr lang="en-US" b="0" i="0" dirty="0" smtClean="0">
                <a:solidFill>
                  <a:srgbClr val="484848"/>
                </a:solidFill>
                <a:effectLst/>
                <a:latin typeface="Roboto"/>
              </a:rPr>
              <a:t>If 9 spiders make 9 webs in 9 days, then 13 spiders will make 13 webs in how many days?</a:t>
            </a:r>
          </a:p>
          <a:p>
            <a:r>
              <a:rPr lang="en-US" b="0" i="0" dirty="0" smtClean="0">
                <a:solidFill>
                  <a:srgbClr val="484848"/>
                </a:solidFill>
                <a:effectLst/>
                <a:latin typeface="Roboto"/>
              </a:rPr>
              <a:t>9</a:t>
            </a:r>
          </a:p>
          <a:p>
            <a:r>
              <a:rPr lang="en-US" b="0" i="0" dirty="0" smtClean="0">
                <a:solidFill>
                  <a:srgbClr val="484848"/>
                </a:solidFill>
                <a:effectLst/>
                <a:latin typeface="Roboto"/>
              </a:rPr>
              <a:t>81</a:t>
            </a:r>
          </a:p>
          <a:p>
            <a:r>
              <a:rPr lang="en-US" b="0" i="0" dirty="0" smtClean="0">
                <a:solidFill>
                  <a:srgbClr val="484848"/>
                </a:solidFill>
                <a:effectLst/>
                <a:latin typeface="Roboto"/>
              </a:rPr>
              <a:t>9/2</a:t>
            </a:r>
          </a:p>
          <a:p>
            <a:r>
              <a:rPr lang="en-US" b="0" i="0" dirty="0" smtClean="0">
                <a:solidFill>
                  <a:srgbClr val="484848"/>
                </a:solidFill>
                <a:effectLst/>
                <a:latin typeface="Roboto"/>
              </a:rPr>
              <a:t>None of these</a:t>
            </a:r>
          </a:p>
        </p:txBody>
      </p:sp>
    </p:spTree>
    <p:extLst>
      <p:ext uri="{BB962C8B-B14F-4D97-AF65-F5344CB8AC3E}">
        <p14:creationId xmlns:p14="http://schemas.microsoft.com/office/powerpoint/2010/main" val="328398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2427" y="373487"/>
            <a:ext cx="10689465" cy="1754326"/>
          </a:xfrm>
          <a:prstGeom prst="rect">
            <a:avLst/>
          </a:prstGeom>
        </p:spPr>
        <p:txBody>
          <a:bodyPr wrap="square">
            <a:spAutoFit/>
          </a:bodyPr>
          <a:lstStyle/>
          <a:p>
            <a:r>
              <a:rPr lang="en-US" b="0" i="0" dirty="0" smtClean="0">
                <a:solidFill>
                  <a:srgbClr val="484848"/>
                </a:solidFill>
                <a:effectLst/>
                <a:latin typeface="Roboto"/>
              </a:rPr>
              <a:t>Q9.A cyclist covers a distance of 45 km in 3 hours. At the same rate, how long will it take him to travel 75 km?</a:t>
            </a:r>
          </a:p>
          <a:p>
            <a:r>
              <a:rPr lang="en-US" b="0" i="0" dirty="0" smtClean="0">
                <a:solidFill>
                  <a:srgbClr val="484848"/>
                </a:solidFill>
                <a:effectLst/>
                <a:latin typeface="Roboto"/>
              </a:rPr>
              <a:t>5 hours</a:t>
            </a:r>
          </a:p>
          <a:p>
            <a:r>
              <a:rPr lang="en-US" b="0" i="0" dirty="0" smtClean="0">
                <a:solidFill>
                  <a:srgbClr val="484848"/>
                </a:solidFill>
                <a:effectLst/>
                <a:latin typeface="Roboto"/>
              </a:rPr>
              <a:t>4 hours</a:t>
            </a:r>
          </a:p>
          <a:p>
            <a:r>
              <a:rPr lang="en-US" b="0" i="0" dirty="0" smtClean="0">
                <a:solidFill>
                  <a:srgbClr val="484848"/>
                </a:solidFill>
                <a:effectLst/>
                <a:latin typeface="Roboto"/>
              </a:rPr>
              <a:t>6 hours</a:t>
            </a:r>
          </a:p>
          <a:p>
            <a:r>
              <a:rPr lang="en-US" b="0" i="0" dirty="0" smtClean="0">
                <a:solidFill>
                  <a:srgbClr val="484848"/>
                </a:solidFill>
                <a:effectLst/>
                <a:latin typeface="Roboto"/>
              </a:rPr>
              <a:t>4.5 hours</a:t>
            </a:r>
            <a:endParaRPr lang="en-US" b="0" i="0" dirty="0">
              <a:solidFill>
                <a:srgbClr val="484848"/>
              </a:solidFill>
              <a:effectLst/>
              <a:latin typeface="Roboto"/>
            </a:endParaRPr>
          </a:p>
        </p:txBody>
      </p:sp>
    </p:spTree>
    <p:extLst>
      <p:ext uri="{BB962C8B-B14F-4D97-AF65-F5344CB8AC3E}">
        <p14:creationId xmlns:p14="http://schemas.microsoft.com/office/powerpoint/2010/main" val="838206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9701" y="373488"/>
            <a:ext cx="10831133" cy="1754326"/>
          </a:xfrm>
          <a:prstGeom prst="rect">
            <a:avLst/>
          </a:prstGeom>
        </p:spPr>
        <p:txBody>
          <a:bodyPr wrap="square">
            <a:spAutoFit/>
          </a:bodyPr>
          <a:lstStyle/>
          <a:p>
            <a:r>
              <a:rPr lang="en-US" b="0" i="0" dirty="0" smtClean="0">
                <a:solidFill>
                  <a:srgbClr val="484848"/>
                </a:solidFill>
                <a:effectLst/>
                <a:latin typeface="Roboto"/>
              </a:rPr>
              <a:t>A man covers a certain distance at 50 km/h and returns at 60 km/h. What is his average speed for the entire journey?</a:t>
            </a:r>
          </a:p>
          <a:p>
            <a:r>
              <a:rPr lang="en-US" b="0" i="0" dirty="0" smtClean="0">
                <a:solidFill>
                  <a:srgbClr val="484848"/>
                </a:solidFill>
                <a:effectLst/>
                <a:latin typeface="Roboto"/>
              </a:rPr>
              <a:t>55 km/h</a:t>
            </a:r>
          </a:p>
          <a:p>
            <a:r>
              <a:rPr lang="en-US" b="0" i="0" dirty="0" smtClean="0">
                <a:solidFill>
                  <a:srgbClr val="484848"/>
                </a:solidFill>
                <a:effectLst/>
                <a:latin typeface="Roboto"/>
              </a:rPr>
              <a:t>54.55 km/h</a:t>
            </a:r>
          </a:p>
          <a:p>
            <a:r>
              <a:rPr lang="en-US" b="0" i="0" dirty="0" smtClean="0">
                <a:solidFill>
                  <a:srgbClr val="484848"/>
                </a:solidFill>
                <a:effectLst/>
                <a:latin typeface="Roboto"/>
              </a:rPr>
              <a:t>57.5 km/h</a:t>
            </a:r>
          </a:p>
          <a:p>
            <a:r>
              <a:rPr lang="en-US" b="0" i="0" dirty="0" smtClean="0">
                <a:solidFill>
                  <a:srgbClr val="484848"/>
                </a:solidFill>
                <a:effectLst/>
                <a:latin typeface="Roboto"/>
              </a:rPr>
              <a:t>60 km/h</a:t>
            </a:r>
            <a:endParaRPr lang="en-US" b="0" i="0" dirty="0">
              <a:solidFill>
                <a:srgbClr val="484848"/>
              </a:solidFill>
              <a:effectLst/>
              <a:latin typeface="Roboto"/>
            </a:endParaRPr>
          </a:p>
        </p:txBody>
      </p:sp>
    </p:spTree>
    <p:extLst>
      <p:ext uri="{BB962C8B-B14F-4D97-AF65-F5344CB8AC3E}">
        <p14:creationId xmlns:p14="http://schemas.microsoft.com/office/powerpoint/2010/main" val="3341235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3493" y="759854"/>
            <a:ext cx="7920507" cy="1477328"/>
          </a:xfrm>
          <a:prstGeom prst="rect">
            <a:avLst/>
          </a:prstGeom>
        </p:spPr>
        <p:txBody>
          <a:bodyPr wrap="square">
            <a:spAutoFit/>
          </a:bodyPr>
          <a:lstStyle/>
          <a:p>
            <a:r>
              <a:rPr lang="en-US" b="0" i="0" dirty="0" smtClean="0">
                <a:solidFill>
                  <a:srgbClr val="484848"/>
                </a:solidFill>
                <a:effectLst/>
                <a:latin typeface="Roboto"/>
              </a:rPr>
              <a:t>If 3</a:t>
            </a:r>
            <a:r>
              <a:rPr lang="en-US" b="0" i="0" baseline="30000" dirty="0" smtClean="0">
                <a:solidFill>
                  <a:srgbClr val="484848"/>
                </a:solidFill>
                <a:effectLst/>
                <a:latin typeface="Roboto"/>
              </a:rPr>
              <a:t>(x - y)</a:t>
            </a:r>
            <a:r>
              <a:rPr lang="en-US" b="0" i="0" dirty="0" smtClean="0">
                <a:solidFill>
                  <a:srgbClr val="484848"/>
                </a:solidFill>
                <a:effectLst/>
                <a:latin typeface="Roboto"/>
              </a:rPr>
              <a:t> = 27 and 3</a:t>
            </a:r>
            <a:r>
              <a:rPr lang="en-US" b="0" i="0" baseline="30000" dirty="0" smtClean="0">
                <a:solidFill>
                  <a:srgbClr val="484848"/>
                </a:solidFill>
                <a:effectLst/>
                <a:latin typeface="Roboto"/>
              </a:rPr>
              <a:t>(x + y)</a:t>
            </a:r>
            <a:r>
              <a:rPr lang="en-US" b="0" i="0" dirty="0" smtClean="0">
                <a:solidFill>
                  <a:srgbClr val="484848"/>
                </a:solidFill>
                <a:effectLst/>
                <a:latin typeface="Roboto"/>
              </a:rPr>
              <a:t> = 243, then x is equal to</a:t>
            </a:r>
          </a:p>
          <a:p>
            <a:r>
              <a:rPr lang="en-US" b="0" i="0" dirty="0" smtClean="0">
                <a:solidFill>
                  <a:srgbClr val="484848"/>
                </a:solidFill>
                <a:effectLst/>
                <a:latin typeface="Roboto"/>
              </a:rPr>
              <a:t>2</a:t>
            </a:r>
          </a:p>
          <a:p>
            <a:r>
              <a:rPr lang="en-US" b="0" i="0" dirty="0" smtClean="0">
                <a:solidFill>
                  <a:srgbClr val="484848"/>
                </a:solidFill>
                <a:effectLst/>
                <a:latin typeface="Roboto"/>
              </a:rPr>
              <a:t>4</a:t>
            </a:r>
          </a:p>
          <a:p>
            <a:r>
              <a:rPr lang="en-US" b="0" i="0" dirty="0" smtClean="0">
                <a:solidFill>
                  <a:srgbClr val="484848"/>
                </a:solidFill>
                <a:effectLst/>
                <a:latin typeface="Roboto"/>
              </a:rPr>
              <a:t>6</a:t>
            </a:r>
          </a:p>
          <a:p>
            <a:r>
              <a:rPr lang="en-US" b="0" i="0" dirty="0" smtClean="0">
                <a:solidFill>
                  <a:srgbClr val="484848"/>
                </a:solidFill>
                <a:effectLst/>
                <a:latin typeface="Roboto"/>
              </a:rPr>
              <a:t>10</a:t>
            </a:r>
            <a:endParaRPr lang="en-US" b="0" i="0" dirty="0">
              <a:solidFill>
                <a:srgbClr val="484848"/>
              </a:solidFill>
              <a:effectLst/>
              <a:latin typeface="Roboto"/>
            </a:endParaRPr>
          </a:p>
        </p:txBody>
      </p:sp>
    </p:spTree>
    <p:extLst>
      <p:ext uri="{BB962C8B-B14F-4D97-AF65-F5344CB8AC3E}">
        <p14:creationId xmlns:p14="http://schemas.microsoft.com/office/powerpoint/2010/main" val="2921829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611" y="515155"/>
            <a:ext cx="8358389" cy="1477328"/>
          </a:xfrm>
          <a:prstGeom prst="rect">
            <a:avLst/>
          </a:prstGeom>
        </p:spPr>
        <p:txBody>
          <a:bodyPr wrap="square">
            <a:spAutoFit/>
          </a:bodyPr>
          <a:lstStyle/>
          <a:p>
            <a:r>
              <a:rPr lang="en-US" b="0" i="0" dirty="0" smtClean="0">
                <a:solidFill>
                  <a:srgbClr val="484848"/>
                </a:solidFill>
                <a:effectLst/>
                <a:latin typeface="Roboto"/>
              </a:rPr>
              <a:t>If 5</a:t>
            </a:r>
            <a:r>
              <a:rPr lang="en-US" b="0" i="0" baseline="30000" dirty="0" smtClean="0">
                <a:solidFill>
                  <a:srgbClr val="484848"/>
                </a:solidFill>
                <a:effectLst/>
                <a:latin typeface="Roboto"/>
              </a:rPr>
              <a:t>a</a:t>
            </a:r>
            <a:r>
              <a:rPr lang="en-US" b="0" i="0" dirty="0" smtClean="0">
                <a:solidFill>
                  <a:srgbClr val="484848"/>
                </a:solidFill>
                <a:effectLst/>
                <a:latin typeface="Roboto"/>
              </a:rPr>
              <a:t> = 3125, then the value of 5</a:t>
            </a:r>
            <a:r>
              <a:rPr lang="en-US" b="0" i="0" baseline="30000" dirty="0" smtClean="0">
                <a:solidFill>
                  <a:srgbClr val="484848"/>
                </a:solidFill>
                <a:effectLst/>
                <a:latin typeface="Roboto"/>
              </a:rPr>
              <a:t>(a - 3)</a:t>
            </a:r>
            <a:r>
              <a:rPr lang="en-US" b="0" i="0" dirty="0" smtClean="0">
                <a:solidFill>
                  <a:srgbClr val="484848"/>
                </a:solidFill>
                <a:effectLst/>
                <a:latin typeface="Roboto"/>
              </a:rPr>
              <a:t> is ?</a:t>
            </a:r>
          </a:p>
          <a:p>
            <a:r>
              <a:rPr lang="en-US" b="0" i="0" dirty="0" smtClean="0">
                <a:solidFill>
                  <a:srgbClr val="484848"/>
                </a:solidFill>
                <a:effectLst/>
                <a:latin typeface="Roboto"/>
              </a:rPr>
              <a:t>125</a:t>
            </a:r>
          </a:p>
          <a:p>
            <a:r>
              <a:rPr lang="en-US" b="0" i="0" dirty="0" smtClean="0">
                <a:solidFill>
                  <a:srgbClr val="484848"/>
                </a:solidFill>
                <a:effectLst/>
                <a:latin typeface="Roboto"/>
              </a:rPr>
              <a:t>100</a:t>
            </a:r>
          </a:p>
          <a:p>
            <a:r>
              <a:rPr lang="en-US" b="0" i="0" dirty="0" smtClean="0">
                <a:solidFill>
                  <a:srgbClr val="484848"/>
                </a:solidFill>
                <a:effectLst/>
                <a:latin typeface="Roboto"/>
              </a:rPr>
              <a:t>25</a:t>
            </a:r>
          </a:p>
          <a:p>
            <a:r>
              <a:rPr lang="en-US" b="0" i="0" dirty="0" smtClean="0">
                <a:solidFill>
                  <a:srgbClr val="484848"/>
                </a:solidFill>
                <a:effectLst/>
                <a:latin typeface="Roboto"/>
              </a:rPr>
              <a:t>75</a:t>
            </a:r>
            <a:endParaRPr lang="en-US" b="0" i="0" dirty="0">
              <a:solidFill>
                <a:srgbClr val="484848"/>
              </a:solidFill>
              <a:effectLst/>
              <a:latin typeface="Roboto"/>
            </a:endParaRPr>
          </a:p>
        </p:txBody>
      </p:sp>
    </p:spTree>
    <p:extLst>
      <p:ext uri="{BB962C8B-B14F-4D97-AF65-F5344CB8AC3E}">
        <p14:creationId xmlns:p14="http://schemas.microsoft.com/office/powerpoint/2010/main" val="360834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7583" y="373487"/>
            <a:ext cx="10470524" cy="2031325"/>
          </a:xfrm>
          <a:prstGeom prst="rect">
            <a:avLst/>
          </a:prstGeom>
        </p:spPr>
        <p:txBody>
          <a:bodyPr wrap="square">
            <a:spAutoFit/>
          </a:bodyPr>
          <a:lstStyle/>
          <a:p>
            <a:r>
              <a:rPr lang="en-US" b="0" i="0" dirty="0" smtClean="0">
                <a:solidFill>
                  <a:srgbClr val="484848"/>
                </a:solidFill>
                <a:effectLst/>
                <a:latin typeface="Roboto"/>
              </a:rPr>
              <a:t>The rate of interest on a sum of money is 3 % per annum for the first two years,6% for the next three years and 9 % per annum for the period beyond five years. What will be the simple interest on Rs.8000 for ten years?</a:t>
            </a:r>
          </a:p>
          <a:p>
            <a:r>
              <a:rPr lang="en-US" b="0" i="0" dirty="0" smtClean="0">
                <a:solidFill>
                  <a:srgbClr val="484848"/>
                </a:solidFill>
                <a:effectLst/>
                <a:latin typeface="Roboto"/>
              </a:rPr>
              <a:t>Rs.1296</a:t>
            </a:r>
          </a:p>
          <a:p>
            <a:r>
              <a:rPr lang="en-US" b="0" i="0" dirty="0" smtClean="0">
                <a:solidFill>
                  <a:srgbClr val="484848"/>
                </a:solidFill>
                <a:effectLst/>
                <a:latin typeface="Roboto"/>
              </a:rPr>
              <a:t>Rs.7200</a:t>
            </a:r>
          </a:p>
          <a:p>
            <a:r>
              <a:rPr lang="en-US" b="0" i="0" dirty="0" smtClean="0">
                <a:solidFill>
                  <a:srgbClr val="484848"/>
                </a:solidFill>
                <a:effectLst/>
                <a:latin typeface="Roboto"/>
              </a:rPr>
              <a:t>Rs.1320</a:t>
            </a:r>
          </a:p>
          <a:p>
            <a:r>
              <a:rPr lang="en-US" b="0" i="0" dirty="0" smtClean="0">
                <a:solidFill>
                  <a:srgbClr val="484848"/>
                </a:solidFill>
                <a:effectLst/>
                <a:latin typeface="Roboto"/>
              </a:rPr>
              <a:t>None of these</a:t>
            </a:r>
            <a:endParaRPr lang="en-US" b="0" i="0" dirty="0">
              <a:solidFill>
                <a:srgbClr val="484848"/>
              </a:solidFill>
              <a:effectLst/>
              <a:latin typeface="Roboto"/>
            </a:endParaRPr>
          </a:p>
        </p:txBody>
      </p:sp>
    </p:spTree>
    <p:extLst>
      <p:ext uri="{BB962C8B-B14F-4D97-AF65-F5344CB8AC3E}">
        <p14:creationId xmlns:p14="http://schemas.microsoft.com/office/powerpoint/2010/main" val="1666542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8794" y="425003"/>
            <a:ext cx="10753860" cy="2031325"/>
          </a:xfrm>
          <a:prstGeom prst="rect">
            <a:avLst/>
          </a:prstGeom>
        </p:spPr>
        <p:txBody>
          <a:bodyPr wrap="square">
            <a:spAutoFit/>
          </a:bodyPr>
          <a:lstStyle/>
          <a:p>
            <a:r>
              <a:rPr lang="en-US" b="0" i="0" dirty="0" smtClean="0">
                <a:solidFill>
                  <a:srgbClr val="484848"/>
                </a:solidFill>
                <a:effectLst/>
                <a:latin typeface="Roboto"/>
              </a:rPr>
              <a:t>If an amount of Rs.12000 is invested in two different schemes of which one is SI with 10% </a:t>
            </a:r>
            <a:r>
              <a:rPr lang="en-US" b="0" i="0" dirty="0" err="1" smtClean="0">
                <a:solidFill>
                  <a:srgbClr val="484848"/>
                </a:solidFill>
                <a:effectLst/>
                <a:latin typeface="Roboto"/>
              </a:rPr>
              <a:t>p.a</a:t>
            </a:r>
            <a:r>
              <a:rPr lang="en-US" b="0" i="0" dirty="0" smtClean="0">
                <a:solidFill>
                  <a:srgbClr val="484848"/>
                </a:solidFill>
                <a:effectLst/>
                <a:latin typeface="Roboto"/>
              </a:rPr>
              <a:t> interest and the other is CI with 10% </a:t>
            </a:r>
            <a:r>
              <a:rPr lang="en-US" b="0" i="0" dirty="0" err="1" smtClean="0">
                <a:solidFill>
                  <a:srgbClr val="484848"/>
                </a:solidFill>
                <a:effectLst/>
                <a:latin typeface="Roboto"/>
              </a:rPr>
              <a:t>p.a</a:t>
            </a:r>
            <a:r>
              <a:rPr lang="en-US" b="0" i="0" dirty="0" smtClean="0">
                <a:solidFill>
                  <a:srgbClr val="484848"/>
                </a:solidFill>
                <a:effectLst/>
                <a:latin typeface="Roboto"/>
              </a:rPr>
              <a:t> interest, compounded half-yearly, what will be the difference between SI and CI at the end of 1 year?</a:t>
            </a:r>
          </a:p>
          <a:p>
            <a:r>
              <a:rPr lang="en-US" b="0" i="0" dirty="0" smtClean="0">
                <a:solidFill>
                  <a:srgbClr val="484848"/>
                </a:solidFill>
                <a:effectLst/>
                <a:latin typeface="Roboto"/>
              </a:rPr>
              <a:t>50</a:t>
            </a:r>
          </a:p>
          <a:p>
            <a:r>
              <a:rPr lang="en-US" b="0" i="0" dirty="0" smtClean="0">
                <a:solidFill>
                  <a:srgbClr val="484848"/>
                </a:solidFill>
                <a:effectLst/>
                <a:latin typeface="Roboto"/>
              </a:rPr>
              <a:t>60</a:t>
            </a:r>
          </a:p>
          <a:p>
            <a:r>
              <a:rPr lang="en-US" b="0" i="0" dirty="0" smtClean="0">
                <a:solidFill>
                  <a:srgbClr val="484848"/>
                </a:solidFill>
                <a:effectLst/>
                <a:latin typeface="Roboto"/>
              </a:rPr>
              <a:t>30</a:t>
            </a:r>
          </a:p>
          <a:p>
            <a:r>
              <a:rPr lang="en-US" b="0" i="0" dirty="0" smtClean="0">
                <a:solidFill>
                  <a:srgbClr val="484848"/>
                </a:solidFill>
                <a:effectLst/>
                <a:latin typeface="Roboto"/>
              </a:rPr>
              <a:t>40</a:t>
            </a:r>
            <a:endParaRPr lang="en-US" b="0" i="0" dirty="0">
              <a:solidFill>
                <a:srgbClr val="484848"/>
              </a:solidFill>
              <a:effectLst/>
              <a:latin typeface="Roboto"/>
            </a:endParaRPr>
          </a:p>
        </p:txBody>
      </p:sp>
    </p:spTree>
    <p:extLst>
      <p:ext uri="{BB962C8B-B14F-4D97-AF65-F5344CB8AC3E}">
        <p14:creationId xmlns:p14="http://schemas.microsoft.com/office/powerpoint/2010/main" val="2159794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59" y="695460"/>
            <a:ext cx="10663707" cy="1754326"/>
          </a:xfrm>
          <a:prstGeom prst="rect">
            <a:avLst/>
          </a:prstGeom>
        </p:spPr>
        <p:txBody>
          <a:bodyPr wrap="square">
            <a:spAutoFit/>
          </a:bodyPr>
          <a:lstStyle/>
          <a:p>
            <a:pPr algn="just"/>
            <a:r>
              <a:rPr lang="en-US" b="0" i="0" dirty="0" smtClean="0">
                <a:solidFill>
                  <a:srgbClr val="484848"/>
                </a:solidFill>
                <a:effectLst/>
                <a:latin typeface="Roboto"/>
              </a:rPr>
              <a:t>Two numbers are such that the ratio between them is 3 : 4. But if each is increased by 15, the ratio between them becomes 4 : 5. The bigger number is</a:t>
            </a:r>
          </a:p>
          <a:p>
            <a:r>
              <a:rPr lang="en-US" b="0" i="0" dirty="0" smtClean="0">
                <a:solidFill>
                  <a:srgbClr val="484848"/>
                </a:solidFill>
                <a:effectLst/>
                <a:latin typeface="Roboto"/>
              </a:rPr>
              <a:t>45</a:t>
            </a:r>
          </a:p>
          <a:p>
            <a:r>
              <a:rPr lang="en-US" b="0" i="0" dirty="0" smtClean="0">
                <a:solidFill>
                  <a:srgbClr val="484848"/>
                </a:solidFill>
                <a:effectLst/>
                <a:latin typeface="Roboto"/>
              </a:rPr>
              <a:t>50</a:t>
            </a:r>
          </a:p>
          <a:p>
            <a:r>
              <a:rPr lang="en-US" b="0" i="0" dirty="0" smtClean="0">
                <a:solidFill>
                  <a:srgbClr val="484848"/>
                </a:solidFill>
                <a:effectLst/>
                <a:latin typeface="Roboto"/>
              </a:rPr>
              <a:t>55</a:t>
            </a:r>
          </a:p>
          <a:p>
            <a:r>
              <a:rPr lang="en-US" b="0" i="0" dirty="0" smtClean="0">
                <a:solidFill>
                  <a:srgbClr val="484848"/>
                </a:solidFill>
                <a:effectLst/>
                <a:latin typeface="Roboto"/>
              </a:rPr>
              <a:t>60</a:t>
            </a:r>
            <a:endParaRPr lang="en-US" b="0" i="0" dirty="0">
              <a:solidFill>
                <a:srgbClr val="484848"/>
              </a:solidFill>
              <a:effectLst/>
              <a:latin typeface="Roboto"/>
            </a:endParaRPr>
          </a:p>
        </p:txBody>
      </p:sp>
    </p:spTree>
    <p:extLst>
      <p:ext uri="{BB962C8B-B14F-4D97-AF65-F5344CB8AC3E}">
        <p14:creationId xmlns:p14="http://schemas.microsoft.com/office/powerpoint/2010/main" val="948843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9251" y="489398"/>
            <a:ext cx="9994005" cy="1754326"/>
          </a:xfrm>
          <a:prstGeom prst="rect">
            <a:avLst/>
          </a:prstGeom>
        </p:spPr>
        <p:txBody>
          <a:bodyPr wrap="square">
            <a:spAutoFit/>
          </a:bodyPr>
          <a:lstStyle/>
          <a:p>
            <a:r>
              <a:rPr lang="en-US" b="0" i="0" dirty="0" smtClean="0">
                <a:solidFill>
                  <a:srgbClr val="484848"/>
                </a:solidFill>
                <a:effectLst/>
                <a:latin typeface="Roboto"/>
              </a:rPr>
              <a:t>A man adds 3 liters of water to 12 liters of milk and another 4 liters of water to 10 liters of milk. What is the ratio of strengths of the milk in the two mixtures?</a:t>
            </a:r>
          </a:p>
          <a:p>
            <a:r>
              <a:rPr lang="en-US" b="0" i="0" dirty="0" smtClean="0">
                <a:solidFill>
                  <a:srgbClr val="484848"/>
                </a:solidFill>
                <a:effectLst/>
                <a:latin typeface="Roboto"/>
              </a:rPr>
              <a:t>5/18</a:t>
            </a:r>
          </a:p>
          <a:p>
            <a:r>
              <a:rPr lang="en-US" b="0" i="0" dirty="0" smtClean="0">
                <a:solidFill>
                  <a:srgbClr val="484848"/>
                </a:solidFill>
                <a:effectLst/>
                <a:latin typeface="Roboto"/>
              </a:rPr>
              <a:t>24/5</a:t>
            </a:r>
          </a:p>
          <a:p>
            <a:r>
              <a:rPr lang="en-US" b="0" i="0" dirty="0" smtClean="0">
                <a:solidFill>
                  <a:srgbClr val="484848"/>
                </a:solidFill>
                <a:effectLst/>
                <a:latin typeface="Roboto"/>
              </a:rPr>
              <a:t>28/25</a:t>
            </a:r>
          </a:p>
          <a:p>
            <a:r>
              <a:rPr lang="en-US" b="0" i="0" dirty="0" smtClean="0">
                <a:solidFill>
                  <a:srgbClr val="484848"/>
                </a:solidFill>
                <a:effectLst/>
                <a:latin typeface="Roboto"/>
              </a:rPr>
              <a:t>15/16</a:t>
            </a:r>
            <a:endParaRPr lang="en-US" b="0" i="0" dirty="0">
              <a:solidFill>
                <a:srgbClr val="484848"/>
              </a:solidFill>
              <a:effectLst/>
              <a:latin typeface="Roboto"/>
            </a:endParaRPr>
          </a:p>
        </p:txBody>
      </p:sp>
    </p:spTree>
    <p:extLst>
      <p:ext uri="{BB962C8B-B14F-4D97-AF65-F5344CB8AC3E}">
        <p14:creationId xmlns:p14="http://schemas.microsoft.com/office/powerpoint/2010/main" val="380091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915" y="386366"/>
            <a:ext cx="9736429" cy="1477328"/>
          </a:xfrm>
          <a:prstGeom prst="rect">
            <a:avLst/>
          </a:prstGeom>
        </p:spPr>
        <p:txBody>
          <a:bodyPr wrap="square">
            <a:spAutoFit/>
          </a:bodyPr>
          <a:lstStyle/>
          <a:p>
            <a:r>
              <a:rPr lang="en-US" b="0" i="0" dirty="0" smtClean="0">
                <a:solidFill>
                  <a:srgbClr val="484848"/>
                </a:solidFill>
                <a:effectLst/>
                <a:latin typeface="Roboto"/>
              </a:rPr>
              <a:t>Equation of (x+1)</a:t>
            </a:r>
            <a:r>
              <a:rPr lang="en-US" b="0" i="0" baseline="30000" dirty="0" smtClean="0">
                <a:solidFill>
                  <a:srgbClr val="484848"/>
                </a:solidFill>
                <a:effectLst/>
                <a:latin typeface="Roboto"/>
              </a:rPr>
              <a:t>2</a:t>
            </a:r>
            <a:r>
              <a:rPr lang="en-US" b="0" i="0" dirty="0" smtClean="0">
                <a:solidFill>
                  <a:srgbClr val="484848"/>
                </a:solidFill>
                <a:effectLst/>
                <a:latin typeface="Roboto"/>
              </a:rPr>
              <a:t>- x</a:t>
            </a:r>
            <a:r>
              <a:rPr lang="en-US" b="0" i="0" baseline="30000" dirty="0" smtClean="0">
                <a:solidFill>
                  <a:srgbClr val="484848"/>
                </a:solidFill>
                <a:effectLst/>
                <a:latin typeface="Roboto"/>
              </a:rPr>
              <a:t>2</a:t>
            </a:r>
            <a:r>
              <a:rPr lang="en-US" b="0" i="0" dirty="0" smtClean="0">
                <a:solidFill>
                  <a:srgbClr val="484848"/>
                </a:solidFill>
                <a:effectLst/>
                <a:latin typeface="Roboto"/>
              </a:rPr>
              <a:t>=0 has number of real roots equal to:</a:t>
            </a:r>
          </a:p>
          <a:p>
            <a:r>
              <a:rPr lang="en-US" b="0" i="0" dirty="0" smtClean="0">
                <a:solidFill>
                  <a:srgbClr val="484848"/>
                </a:solidFill>
                <a:effectLst/>
                <a:latin typeface="Roboto"/>
              </a:rPr>
              <a:t>1</a:t>
            </a:r>
          </a:p>
          <a:p>
            <a:r>
              <a:rPr lang="en-US" b="0" i="0" dirty="0" smtClean="0">
                <a:solidFill>
                  <a:srgbClr val="484848"/>
                </a:solidFill>
                <a:effectLst/>
                <a:latin typeface="Roboto"/>
              </a:rPr>
              <a:t>2</a:t>
            </a:r>
          </a:p>
          <a:p>
            <a:r>
              <a:rPr lang="en-US" b="0" i="0" dirty="0" smtClean="0">
                <a:solidFill>
                  <a:srgbClr val="484848"/>
                </a:solidFill>
                <a:effectLst/>
                <a:latin typeface="Roboto"/>
              </a:rPr>
              <a:t>3</a:t>
            </a:r>
          </a:p>
          <a:p>
            <a:r>
              <a:rPr lang="en-US" b="0" i="0" dirty="0" smtClean="0">
                <a:solidFill>
                  <a:srgbClr val="484848"/>
                </a:solidFill>
                <a:effectLst/>
                <a:latin typeface="Roboto"/>
              </a:rPr>
              <a:t>4</a:t>
            </a:r>
            <a:endParaRPr lang="en-US" b="0" i="0" dirty="0">
              <a:solidFill>
                <a:srgbClr val="484848"/>
              </a:solidFill>
              <a:effectLst/>
              <a:latin typeface="Roboto"/>
            </a:endParaRPr>
          </a:p>
        </p:txBody>
      </p:sp>
    </p:spTree>
    <p:extLst>
      <p:ext uri="{BB962C8B-B14F-4D97-AF65-F5344CB8AC3E}">
        <p14:creationId xmlns:p14="http://schemas.microsoft.com/office/powerpoint/2010/main" val="3499461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618186"/>
            <a:ext cx="8345510" cy="2031325"/>
          </a:xfrm>
          <a:prstGeom prst="rect">
            <a:avLst/>
          </a:prstGeom>
        </p:spPr>
        <p:txBody>
          <a:bodyPr wrap="square">
            <a:spAutoFit/>
          </a:bodyPr>
          <a:lstStyle/>
          <a:p>
            <a:r>
              <a:rPr lang="en-US" b="0" i="0" dirty="0" smtClean="0">
                <a:solidFill>
                  <a:srgbClr val="484848"/>
                </a:solidFill>
                <a:effectLst/>
                <a:latin typeface="Roboto"/>
              </a:rPr>
              <a:t>The roots of 100x</a:t>
            </a:r>
            <a:r>
              <a:rPr lang="en-US" b="0" i="0" baseline="30000" dirty="0" smtClean="0">
                <a:solidFill>
                  <a:srgbClr val="484848"/>
                </a:solidFill>
                <a:effectLst/>
                <a:latin typeface="Roboto"/>
              </a:rPr>
              <a:t>2</a:t>
            </a:r>
            <a:r>
              <a:rPr lang="en-US" b="0" i="0" dirty="0" smtClean="0">
                <a:solidFill>
                  <a:srgbClr val="484848"/>
                </a:solidFill>
                <a:effectLst/>
                <a:latin typeface="Roboto"/>
              </a:rPr>
              <a:t> – 20x + 1 = 0 is:</a:t>
            </a:r>
          </a:p>
          <a:p>
            <a:r>
              <a:rPr lang="en-US" b="0" i="0" dirty="0" smtClean="0">
                <a:solidFill>
                  <a:srgbClr val="484848"/>
                </a:solidFill>
                <a:effectLst/>
                <a:latin typeface="Roboto"/>
              </a:rPr>
              <a:t/>
            </a:r>
            <a:br>
              <a:rPr lang="en-US" b="0" i="0" dirty="0" smtClean="0">
                <a:solidFill>
                  <a:srgbClr val="484848"/>
                </a:solidFill>
                <a:effectLst/>
                <a:latin typeface="Roboto"/>
              </a:rPr>
            </a:br>
            <a:endParaRPr lang="en-US" b="0" i="0" dirty="0" smtClean="0">
              <a:solidFill>
                <a:srgbClr val="484848"/>
              </a:solidFill>
              <a:effectLst/>
              <a:latin typeface="Roboto"/>
            </a:endParaRPr>
          </a:p>
          <a:p>
            <a:r>
              <a:rPr lang="en-US" b="0" i="0" dirty="0" smtClean="0">
                <a:solidFill>
                  <a:srgbClr val="484848"/>
                </a:solidFill>
                <a:effectLst/>
                <a:latin typeface="Roboto"/>
              </a:rPr>
              <a:t>1/20 and 1/20</a:t>
            </a:r>
          </a:p>
          <a:p>
            <a:r>
              <a:rPr lang="en-US" b="0" i="0" dirty="0" smtClean="0">
                <a:solidFill>
                  <a:srgbClr val="484848"/>
                </a:solidFill>
                <a:effectLst/>
                <a:latin typeface="Roboto"/>
              </a:rPr>
              <a:t>1/10 and 1/20</a:t>
            </a:r>
          </a:p>
          <a:p>
            <a:r>
              <a:rPr lang="en-US" b="0" i="0" dirty="0" smtClean="0">
                <a:solidFill>
                  <a:srgbClr val="484848"/>
                </a:solidFill>
                <a:effectLst/>
                <a:latin typeface="Roboto"/>
              </a:rPr>
              <a:t>1/10 and 1/10</a:t>
            </a:r>
          </a:p>
          <a:p>
            <a:r>
              <a:rPr lang="en-US" b="0" i="0" dirty="0" smtClean="0">
                <a:solidFill>
                  <a:srgbClr val="484848"/>
                </a:solidFill>
                <a:effectLst/>
                <a:latin typeface="Roboto"/>
              </a:rPr>
              <a:t>None of the above</a:t>
            </a:r>
            <a:endParaRPr lang="en-US" b="0" i="0" dirty="0">
              <a:solidFill>
                <a:srgbClr val="484848"/>
              </a:solidFill>
              <a:effectLst/>
              <a:latin typeface="Roboto"/>
            </a:endParaRPr>
          </a:p>
        </p:txBody>
      </p:sp>
    </p:spTree>
    <p:extLst>
      <p:ext uri="{BB962C8B-B14F-4D97-AF65-F5344CB8AC3E}">
        <p14:creationId xmlns:p14="http://schemas.microsoft.com/office/powerpoint/2010/main" val="2164413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641" y="528034"/>
            <a:ext cx="10573555" cy="1754326"/>
          </a:xfrm>
          <a:prstGeom prst="rect">
            <a:avLst/>
          </a:prstGeom>
        </p:spPr>
        <p:txBody>
          <a:bodyPr wrap="square">
            <a:spAutoFit/>
          </a:bodyPr>
          <a:lstStyle/>
          <a:p>
            <a:r>
              <a:rPr lang="en-US" b="0" i="0" dirty="0" err="1" smtClean="0">
                <a:solidFill>
                  <a:srgbClr val="484848"/>
                </a:solidFill>
                <a:effectLst/>
                <a:latin typeface="Roboto"/>
              </a:rPr>
              <a:t>Varshini</a:t>
            </a:r>
            <a:r>
              <a:rPr lang="en-US" b="0" i="0" dirty="0" smtClean="0">
                <a:solidFill>
                  <a:srgbClr val="484848"/>
                </a:solidFill>
                <a:effectLst/>
                <a:latin typeface="Roboto"/>
              </a:rPr>
              <a:t> sold one–fourth of her books at a gain of 10% and the remaining at cost price. Find the gain earned by her in the whole transaction</a:t>
            </a:r>
          </a:p>
          <a:p>
            <a:r>
              <a:rPr lang="en-US" b="0" i="0" dirty="0" smtClean="0">
                <a:solidFill>
                  <a:srgbClr val="484848"/>
                </a:solidFill>
                <a:effectLst/>
                <a:latin typeface="Roboto"/>
              </a:rPr>
              <a:t>1.5 %</a:t>
            </a:r>
          </a:p>
          <a:p>
            <a:r>
              <a:rPr lang="en-US" b="0" i="0" dirty="0" smtClean="0">
                <a:solidFill>
                  <a:srgbClr val="484848"/>
                </a:solidFill>
                <a:effectLst/>
                <a:latin typeface="Roboto"/>
              </a:rPr>
              <a:t>2%</a:t>
            </a:r>
          </a:p>
          <a:p>
            <a:r>
              <a:rPr lang="en-US" b="0" i="0" dirty="0" smtClean="0">
                <a:solidFill>
                  <a:srgbClr val="484848"/>
                </a:solidFill>
                <a:effectLst/>
                <a:latin typeface="Roboto"/>
              </a:rPr>
              <a:t>2.5%</a:t>
            </a:r>
          </a:p>
          <a:p>
            <a:r>
              <a:rPr lang="en-US" b="0" i="0" dirty="0" smtClean="0">
                <a:solidFill>
                  <a:srgbClr val="484848"/>
                </a:solidFill>
                <a:effectLst/>
                <a:latin typeface="Roboto"/>
              </a:rPr>
              <a:t>3%</a:t>
            </a:r>
            <a:endParaRPr lang="en-US" b="0" i="0" dirty="0">
              <a:solidFill>
                <a:srgbClr val="484848"/>
              </a:solidFill>
              <a:effectLst/>
              <a:latin typeface="Roboto"/>
            </a:endParaRPr>
          </a:p>
        </p:txBody>
      </p:sp>
    </p:spTree>
    <p:extLst>
      <p:ext uri="{BB962C8B-B14F-4D97-AF65-F5344CB8AC3E}">
        <p14:creationId xmlns:p14="http://schemas.microsoft.com/office/powerpoint/2010/main" val="1521035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0158" y="399245"/>
            <a:ext cx="9092484" cy="2031325"/>
          </a:xfrm>
          <a:prstGeom prst="rect">
            <a:avLst/>
          </a:prstGeom>
        </p:spPr>
        <p:txBody>
          <a:bodyPr wrap="square">
            <a:spAutoFit/>
          </a:bodyPr>
          <a:lstStyle/>
          <a:p>
            <a:pPr algn="just"/>
            <a:r>
              <a:rPr lang="en-US" b="0" i="0" dirty="0" smtClean="0">
                <a:solidFill>
                  <a:srgbClr val="484848"/>
                </a:solidFill>
                <a:effectLst/>
                <a:latin typeface="Roboto"/>
              </a:rPr>
              <a:t>A man buys 5 horses and 7 bulls for Rs.1950. He sells the horses at a profit of 10% and bulls at a profit of 16% and on the whole, his gain is Rs.237. What price does he pay for a horse?</a:t>
            </a:r>
          </a:p>
          <a:p>
            <a:r>
              <a:rPr lang="en-US" b="0" i="0" dirty="0" err="1" smtClean="0">
                <a:solidFill>
                  <a:srgbClr val="484848"/>
                </a:solidFill>
                <a:effectLst/>
                <a:latin typeface="Roboto"/>
              </a:rPr>
              <a:t>Rs</a:t>
            </a:r>
            <a:r>
              <a:rPr lang="en-US" b="0" i="0" dirty="0" smtClean="0">
                <a:solidFill>
                  <a:srgbClr val="484848"/>
                </a:solidFill>
                <a:effectLst/>
                <a:latin typeface="Roboto"/>
              </a:rPr>
              <a:t>. 225</a:t>
            </a:r>
          </a:p>
          <a:p>
            <a:r>
              <a:rPr lang="en-US" b="0" i="0" dirty="0" err="1" smtClean="0">
                <a:solidFill>
                  <a:srgbClr val="484848"/>
                </a:solidFill>
                <a:effectLst/>
                <a:latin typeface="Roboto"/>
              </a:rPr>
              <a:t>Rs</a:t>
            </a:r>
            <a:r>
              <a:rPr lang="en-US" b="0" i="0" dirty="0" smtClean="0">
                <a:solidFill>
                  <a:srgbClr val="484848"/>
                </a:solidFill>
                <a:effectLst/>
                <a:latin typeface="Roboto"/>
              </a:rPr>
              <a:t>. 250</a:t>
            </a:r>
          </a:p>
          <a:p>
            <a:r>
              <a:rPr lang="en-US" b="0" i="0" dirty="0" err="1" smtClean="0">
                <a:solidFill>
                  <a:srgbClr val="484848"/>
                </a:solidFill>
                <a:effectLst/>
                <a:latin typeface="Roboto"/>
              </a:rPr>
              <a:t>Rs</a:t>
            </a:r>
            <a:r>
              <a:rPr lang="en-US" b="0" i="0" dirty="0" smtClean="0">
                <a:solidFill>
                  <a:srgbClr val="484848"/>
                </a:solidFill>
                <a:effectLst/>
                <a:latin typeface="Roboto"/>
              </a:rPr>
              <a:t>. 325</a:t>
            </a:r>
          </a:p>
          <a:p>
            <a:r>
              <a:rPr lang="en-US" b="0" i="0" dirty="0" err="1" smtClean="0">
                <a:solidFill>
                  <a:srgbClr val="484848"/>
                </a:solidFill>
                <a:effectLst/>
                <a:latin typeface="Roboto"/>
              </a:rPr>
              <a:t>Rs</a:t>
            </a:r>
            <a:r>
              <a:rPr lang="en-US" b="0" i="0" dirty="0" smtClean="0">
                <a:solidFill>
                  <a:srgbClr val="484848"/>
                </a:solidFill>
                <a:effectLst/>
                <a:latin typeface="Roboto"/>
              </a:rPr>
              <a:t>. 300</a:t>
            </a:r>
            <a:endParaRPr lang="en-US" b="0" i="0" dirty="0">
              <a:solidFill>
                <a:srgbClr val="484848"/>
              </a:solidFill>
              <a:effectLst/>
              <a:latin typeface="Roboto"/>
            </a:endParaRPr>
          </a:p>
        </p:txBody>
      </p:sp>
    </p:spTree>
    <p:extLst>
      <p:ext uri="{BB962C8B-B14F-4D97-AF65-F5344CB8AC3E}">
        <p14:creationId xmlns:p14="http://schemas.microsoft.com/office/powerpoint/2010/main" val="928463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1654</Words>
  <Application>Microsoft Office PowerPoint</Application>
  <PresentationFormat>Widescreen</PresentationFormat>
  <Paragraphs>200</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cp:revision>
  <dcterms:created xsi:type="dcterms:W3CDTF">2026-05-28T14:32:03Z</dcterms:created>
  <dcterms:modified xsi:type="dcterms:W3CDTF">2026-05-28T16:21:29Z</dcterms:modified>
</cp:coreProperties>
</file>